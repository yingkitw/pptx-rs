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Q4 2024 Business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3600" b="1" i="0" dirty="0">
                <a:solidFill>
                  <a:srgbClr val="4F81BD"/>
                </a:solidFill>
              </a:rPr>
              <a:t>Strategic Initiatives &amp; Performance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Agenda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1. Executive Summary</a:t>
            </a:r>
          </a:p>
          <a:p>
            <a:pPr lvl="0"/>
            <a:r>
              <a:rPr lang="en-US" sz="2400" b="0" i="0" dirty="0"/>
              <a:t>2. Financial Performance</a:t>
            </a:r>
          </a:p>
          <a:p>
            <a:pPr lvl="0"/>
            <a:r>
              <a:rPr lang="en-US" sz="2400" b="0" i="0" dirty="0"/>
              <a:t>3. Regional Analysis</a:t>
            </a:r>
          </a:p>
          <a:p>
            <a:pPr lvl="0"/>
            <a:r>
              <a:rPr lang="en-US" sz="2400" b="0" i="0" dirty="0"/>
              <a:t>4. Product Portfolio</a:t>
            </a:r>
          </a:p>
          <a:p>
            <a:pPr lvl="0"/>
            <a:r>
              <a:rPr lang="en-US" sz="2400" b="0" i="0" dirty="0"/>
              <a:t>5. Market Trends</a:t>
            </a:r>
          </a:p>
          <a:p>
            <a:pPr lvl="0"/>
            <a:r>
              <a:rPr lang="en-US" sz="2400" b="0" i="0" dirty="0"/>
              <a:t>6. Strategic Roadmap</a:t>
            </a:r>
          </a:p>
          <a:p>
            <a:pPr lvl="0"/>
            <a:r>
              <a:rPr lang="en-US" sz="2400" b="0" i="0" dirty="0"/>
              <a:t>7. Q&amp;A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Executive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Q4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Revenue: $8.7M (+22% YoY)</a:t>
            </a:r>
          </a:p>
          <a:p>
            <a:pPr lvl="0"/>
            <a:r>
              <a:rPr lang="en-US" sz="2800" b="1" i="0" dirty="0"/>
              <a:t>Net Profit Margin: 18.5% (+3.2pp)</a:t>
            </a:r>
          </a:p>
          <a:p>
            <a:pPr lvl="0"/>
            <a:r>
              <a:rPr lang="en-US" sz="2800" b="1" i="0" dirty="0"/>
              <a:t>Customer Acquisition: 1,250 new accounts</a:t>
            </a:r>
          </a:p>
          <a:p>
            <a:pPr lvl="0"/>
            <a:r>
              <a:rPr lang="en-US" sz="2800" b="1" i="0" dirty="0"/>
              <a:t>Employee NPS: 72 (+8 points)</a:t>
            </a:r>
          </a:p>
          <a:p>
            <a:pPr lvl="0"/>
            <a:r>
              <a:rPr lang="en-US" sz="2800" b="1" i="0" dirty="0"/>
              <a:t>Market Share: 23.5% (+2.1pp)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Performance vs Target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Revenue: 108% of target</a:t>
            </a:r>
          </a:p>
          <a:p>
            <a:pPr lvl="0"/>
            <a:r>
              <a:rPr lang="en-US" sz="2800" b="0" i="0" dirty="0"/>
              <a:t>Profit: 112% of target</a:t>
            </a:r>
          </a:p>
          <a:p>
            <a:pPr lvl="0"/>
            <a:r>
              <a:rPr lang="en-US" sz="2800" b="0" i="0" dirty="0"/>
              <a:t>Growth: 95% of target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✓ Exceeded expectations</a:t>
            </a:r>
          </a:p>
          <a:p>
            <a:pPr lvl="0"/>
            <a:r>
              <a:rPr lang="en-US" sz="2800" b="0" i="0" dirty="0"/>
              <a:t>✓ Record Q4 performance</a:t>
            </a:r>
          </a:p>
          <a:p>
            <a:pPr lvl="0"/>
            <a:r>
              <a:rPr lang="en-US" sz="2800" b="0" i="0" dirty="0"/>
              <a:t>✓ All regions profitable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Financial Performance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Quarterly P&amp;L Summary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800000" cy="2400000"/>
        </p:xfrm>
        <a:graphic>
          <a:graphicData uri="http://schemas.openxmlformats.org/drawingml/2006/table">
            <a:tbl>
              <a:tblPr firstRow="1" bandHVals="1"/>
              <a:tblGrid>
                <a:gridCol w="1200000"/>
                <a:gridCol w="1200000"/>
                <a:gridCol w="1200000"/>
                <a:gridCol w="12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Expenses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Profit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$1.4M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$0.4M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$2.1M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$2.4M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$1.7M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$0.7M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$1.9M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$0.9M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Total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$9.1M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$6.5M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$2.6M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Regional Revenue Breakdown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5000000" cy="2000000"/>
        </p:xfrm>
        <a:graphic>
          <a:graphicData uri="http://schemas.openxmlformats.org/drawingml/2006/table">
            <a:tbl>
              <a:tblPr firstRow="1" bandHVals="1"/>
              <a:tblGrid>
                <a:gridCol w="1000000"/>
                <a:gridCol w="1000000"/>
                <a:gridCol w="1000000"/>
                <a:gridCol w="1000000"/>
                <a:gridCol w="10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Region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Q3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North America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$0.9M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$1.0M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Europe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$0.7M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$0.8M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Asia Pacific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$0.3M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$0.4M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Latin America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Financial Metrics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Revenue Growth: +22%</a:t>
            </a:r>
          </a:p>
          <a:p>
            <a:pPr lvl="0"/>
            <a:r>
              <a:rPr lang="en-US" sz="2800" b="0" i="0" dirty="0"/>
              <a:t>Gross Margin: 71%</a:t>
            </a:r>
          </a:p>
          <a:p>
            <a:pPr lvl="0"/>
            <a:r>
              <a:rPr lang="en-US" sz="2800" b="0" i="0" dirty="0"/>
              <a:t>Operating Margin: 29%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EBITDA: $3.2M</a:t>
            </a:r>
          </a:p>
          <a:p>
            <a:pPr lvl="0"/>
            <a:r>
              <a:rPr lang="en-US" sz="2800" b="0" i="0" dirty="0"/>
              <a:t>Cash Flow: +$2.1M</a:t>
            </a:r>
          </a:p>
          <a:p>
            <a:pPr lvl="0"/>
            <a:r>
              <a:rPr lang="en-US" sz="2800" b="0" i="0" dirty="0"/>
              <a:t>ROI: 18.5%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Regional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Revenue by Region - Q4 2024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North America: $1.2M (+20% QoQ)</a:t>
            </a:r>
          </a:p>
          <a:p>
            <a:pPr lvl="0"/>
            <a:r>
              <a:rPr lang="en-US" sz="2800" b="0" i="0" dirty="0"/>
              <a:t>Europe: $0.8M (+14% QoQ)</a:t>
            </a:r>
          </a:p>
          <a:p>
            <a:pPr lvl="0"/>
            <a:r>
              <a:rPr lang="en-US" sz="2800" b="0" i="0" dirty="0"/>
              <a:t>Asia Pacific: $0.6M (+20% QoQ)</a:t>
            </a:r>
          </a:p>
          <a:p>
            <a:pPr lvl="0"/>
            <a:r>
              <a:rPr lang="en-US" sz="2800" b="0" i="0" dirty="0"/>
              <a:t>Latin America: $0.2M (flat)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Monthly Revenue Trend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Consistent month-over-month growth</a:t>
            </a:r>
          </a:p>
          <a:p>
            <a:pPr lvl="0"/>
            <a:r>
              <a:rPr lang="en-US" sz="2800" b="0" i="0" dirty="0"/>
              <a:t>December peak: $1.05M</a:t>
            </a:r>
          </a:p>
          <a:p>
            <a:pPr lvl="0"/>
            <a:r>
              <a:rPr lang="en-US" sz="2800" b="0" i="0" dirty="0"/>
              <a:t>YoY improvement: +24%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Market Segmentation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Enterprise: 45% - Core business</a:t>
            </a:r>
          </a:p>
          <a:p>
            <a:pPr lvl="0"/>
            <a:r>
              <a:rPr lang="en-US" sz="2800" b="0" i="0" dirty="0"/>
              <a:t>SMB: 30% - Growth opportunity</a:t>
            </a:r>
          </a:p>
          <a:p>
            <a:pPr lvl="0"/>
            <a:r>
              <a:rPr lang="en-US" sz="2800" b="0" i="0" dirty="0"/>
              <a:t>Consumer: 15% - Stable</a:t>
            </a:r>
          </a:p>
          <a:p>
            <a:pPr lvl="0"/>
            <a:r>
              <a:rPr lang="en-US" sz="2800" b="0" i="0" dirty="0"/>
              <a:t>Government: 10% - New contracts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Product Portfolio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Product Revenue Performance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Product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Platform Pro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$4.2M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+28%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Analytics Suite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$2.8M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+18%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Integration Hub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+35%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Mobile SDK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Product Highlights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Platform Pro: Flagship</a:t>
            </a:r>
          </a:p>
          <a:p>
            <a:pPr lvl="0"/>
            <a:r>
              <a:rPr lang="en-US" sz="2800" b="0" i="0" dirty="0"/>
              <a:t>Analytics Suite: AI-powered</a:t>
            </a:r>
          </a:p>
          <a:p>
            <a:pPr lvl="0"/>
            <a:r>
              <a:rPr lang="en-US" sz="2800" b="0" i="0" dirty="0"/>
              <a:t>Integration Hub: 50+ connectors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Best-in-class security</a:t>
            </a:r>
          </a:p>
          <a:p>
            <a:pPr lvl="0"/>
            <a:r>
              <a:rPr lang="en-US" sz="2800" b="0" i="0" dirty="0"/>
              <a:t>99.9% uptime SLA</a:t>
            </a:r>
          </a:p>
          <a:p>
            <a:pPr lvl="0"/>
            <a:r>
              <a:rPr lang="en-US" sz="2800" b="0" i="0" dirty="0"/>
              <a:t>24/7 support included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Product Launches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Q1 2025: AI Assistant (Beta)</a:t>
            </a:r>
          </a:p>
          <a:p>
            <a:pPr lvl="0"/>
            <a:r>
              <a:rPr lang="en-US" sz="2600" b="0" i="0" dirty="0"/>
              <a:t>Q2 2025: Mobile App v3.0</a:t>
            </a:r>
          </a:p>
          <a:p>
            <a:pPr lvl="0"/>
            <a:r>
              <a:rPr lang="en-US" sz="2600" b="0" i="0" dirty="0"/>
              <a:t>Q3 2025: Enterprise Dashboard</a:t>
            </a:r>
          </a:p>
          <a:p>
            <a:pPr lvl="0"/>
            <a:r>
              <a:rPr lang="en-US" sz="2600" b="0" i="0" dirty="0"/>
              <a:t>Q4 2025: API Gateway 2.0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Market Trends &amp; Competition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Competitive Landscape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400000" cy="2000000"/>
        </p:xfrm>
        <a:graphic>
          <a:graphicData uri="http://schemas.openxmlformats.org/drawingml/2006/table">
            <a:tbl>
              <a:tblPr firstRow="1" bandHVals="1"/>
              <a:tblGrid>
                <a:gridCol w="1200000"/>
                <a:gridCol w="1000000"/>
                <a:gridCol w="1000000"/>
                <a:gridCol w="12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Company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Share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Strength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Our Company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23.5%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+2.1pp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Innovation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Competitor 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28.0%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-0.5pp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Scale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Competitor 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18.5%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+0.8pp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Price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Others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30.0%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-2.4pp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Various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Industry Trends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AI/ML adoption accelerating (+45% YoY)</a:t>
            </a:r>
          </a:p>
          <a:p>
            <a:pPr lvl="0"/>
            <a:r>
              <a:rPr lang="en-US" sz="2400" b="0" i="0" dirty="0"/>
              <a:t>Cloud-first strategies dominating</a:t>
            </a:r>
          </a:p>
          <a:p>
            <a:pPr lvl="0"/>
            <a:r>
              <a:rPr lang="en-US" sz="2400" b="0" i="0" dirty="0"/>
              <a:t>Security &amp; compliance top priority</a:t>
            </a:r>
          </a:p>
          <a:p>
            <a:pPr lvl="0"/>
            <a:r>
              <a:rPr lang="en-US" sz="2400" b="0" i="0" dirty="0"/>
              <a:t>API-driven architectures growing</a:t>
            </a:r>
          </a:p>
          <a:p>
            <a:pPr lvl="0"/>
            <a:r>
              <a:rPr lang="en-US" sz="2400" b="0" i="0" dirty="0"/>
              <a:t>Remote work tools in high demand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Our Competitive Advantages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Fastest time-to-value</a:t>
            </a:r>
          </a:p>
          <a:p>
            <a:pPr lvl="0"/>
            <a:r>
              <a:rPr lang="en-US" sz="2800" b="0" i="0" dirty="0"/>
              <a:t>Best-in-class UX</a:t>
            </a:r>
          </a:p>
          <a:p>
            <a:pPr lvl="0"/>
            <a:r>
              <a:rPr lang="en-US" sz="2800" b="0" i="0" dirty="0"/>
              <a:t>Enterprise-grade security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Lower TCO</a:t>
            </a:r>
          </a:p>
          <a:p>
            <a:pPr lvl="0"/>
            <a:r>
              <a:rPr lang="en-US" sz="2800" b="0" i="0" dirty="0"/>
              <a:t>Superior support</a:t>
            </a:r>
          </a:p>
          <a:p>
            <a:pPr lvl="0"/>
            <a:r>
              <a:rPr lang="en-US" sz="2800" b="0" i="0" dirty="0"/>
              <a:t>Continuous innovation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Strategic Roadmap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2025 Roadmap Overview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800000"/>
            <a:ext cx="1800000" cy="8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Q1 2025</a:t>
            </a:r>
          </a:p>
        </p:txBody>
      </p:sp>
      <p:sp>
        <p:nvSpPr>
          <p:cNvPr id="11" name="Shape 11"/>
          <p:cNvSpPr/>
          <p:nvPr/>
        </p:nvSpPr>
        <p:spPr>
          <a:xfrm>
            <a:off x="2300000" y="1800000"/>
            <a:ext cx="1800000" cy="800000"/>
          </a:xfrm>
          <a:prstGeom prst="rect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Q2 2025</a:t>
            </a:r>
          </a:p>
        </p:txBody>
      </p:sp>
      <p:sp>
        <p:nvSpPr>
          <p:cNvPr id="12" name="Shape 12"/>
          <p:cNvSpPr/>
          <p:nvPr/>
        </p:nvSpPr>
        <p:spPr>
          <a:xfrm>
            <a:off x="4300000" y="1800000"/>
            <a:ext cx="1800000" cy="800000"/>
          </a:xfrm>
          <a:prstGeom prst="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Q3 2025</a:t>
            </a:r>
          </a:p>
        </p:txBody>
      </p:sp>
      <p:sp>
        <p:nvSpPr>
          <p:cNvPr id="13" name="Shape 13"/>
          <p:cNvSpPr/>
          <p:nvPr/>
        </p:nvSpPr>
        <p:spPr>
          <a:xfrm>
            <a:off x="6300000" y="1800000"/>
            <a:ext cx="1800000" cy="800000"/>
          </a:xfrm>
          <a:prstGeom prst="rect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Q4 2025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F81BD"/>
                </a:solidFill>
              </a:rPr>
              <a:t>Q1 2025 Initiatives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Launch AI Assistant Beta</a:t>
            </a:r>
          </a:p>
          <a:p>
            <a:pPr lvl="0"/>
            <a:r>
              <a:rPr lang="en-US" sz="2600" b="0" i="0" dirty="0"/>
              <a:t>Expand APAC sales team</a:t>
            </a:r>
          </a:p>
          <a:p>
            <a:pPr lvl="0"/>
            <a:r>
              <a:rPr lang="en-US" sz="2600" b="0" i="0" dirty="0"/>
              <a:t>SOC 2 Type II certification</a:t>
            </a:r>
          </a:p>
          <a:p>
            <a:pPr lvl="0"/>
            <a:r>
              <a:rPr lang="en-US" sz="2600" b="0" i="0" dirty="0"/>
              <a:t>Partner program launch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Q2-Q4 2025 Priorities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Q2: Mobile App v3.0</a:t>
            </a:r>
          </a:p>
          <a:p>
            <a:pPr lvl="0"/>
            <a:r>
              <a:rPr lang="en-US" sz="2800" b="0" i="0" dirty="0"/>
              <a:t>Q2: EMEA expansion</a:t>
            </a:r>
          </a:p>
          <a:p>
            <a:pPr lvl="0"/>
            <a:r>
              <a:rPr lang="en-US" sz="2800" b="0" i="0" dirty="0"/>
              <a:t>Q3: Enterprise Dashboard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Q3: ISO 27001</a:t>
            </a:r>
          </a:p>
          <a:p>
            <a:pPr lvl="0"/>
            <a:r>
              <a:rPr lang="en-US" sz="2800" b="0" i="0" dirty="0"/>
              <a:t>Q4: API Gateway 2.0</a:t>
            </a:r>
          </a:p>
          <a:p>
            <a:pPr lvl="0"/>
            <a:r>
              <a:rPr lang="en-US" sz="2800" b="0" i="0" dirty="0"/>
              <a:t>Q4: IPO preparation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Investment Priorities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R&amp;D: 35% of revenue (+5pp)</a:t>
            </a:r>
          </a:p>
          <a:p>
            <a:pPr lvl="0"/>
            <a:r>
              <a:rPr lang="en-US" sz="2600" b="0" i="0" dirty="0"/>
              <a:t>Sales &amp; Marketing: 25%</a:t>
            </a:r>
          </a:p>
          <a:p>
            <a:pPr lvl="0"/>
            <a:r>
              <a:rPr lang="en-US" sz="2600" b="0" i="0" dirty="0"/>
              <a:t>Customer Success: 15%</a:t>
            </a:r>
          </a:p>
          <a:p>
            <a:pPr lvl="0"/>
            <a:r>
              <a:rPr lang="en-US" sz="2600" b="0" i="0" dirty="0"/>
              <a:t>Infrastructure: 10%</a:t>
            </a:r>
          </a:p>
          <a:p>
            <a:pPr lvl="0"/>
            <a:r>
              <a:rPr lang="en-US" sz="2600" b="0" i="0" dirty="0"/>
              <a:t>G&amp;A: 15%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Takeaways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Record Q4 revenue: $2.8M (+22% YoY)</a:t>
            </a:r>
          </a:p>
          <a:p>
            <a:pPr lvl="0"/>
            <a:r>
              <a:rPr lang="en-US" sz="2800" b="1" i="0" dirty="0"/>
              <a:t>All regions profitable for first time</a:t>
            </a:r>
          </a:p>
          <a:p>
            <a:pPr lvl="0"/>
            <a:r>
              <a:rPr lang="en-US" sz="2800" b="1" i="0" dirty="0"/>
              <a:t>Market share gains: +2.1pp</a:t>
            </a:r>
          </a:p>
          <a:p>
            <a:pPr lvl="0"/>
            <a:r>
              <a:rPr lang="en-US" sz="2800" b="1" i="0" dirty="0"/>
              <a:t>Strong product pipeline for 2025</a:t>
            </a:r>
          </a:p>
          <a:p>
            <a:pPr lvl="0"/>
            <a:r>
              <a:rPr lang="en-US" sz="2800" b="1" i="0" dirty="0"/>
              <a:t>Well-positioned for continued growth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1. Finalize Q1 2025 hiring plan</a:t>
            </a:r>
          </a:p>
          <a:p>
            <a:pPr lvl="0"/>
            <a:r>
              <a:rPr lang="en-US" sz="2600" b="0" i="0" dirty="0"/>
              <a:t>2. Complete AI Assistant beta testing</a:t>
            </a:r>
          </a:p>
          <a:p>
            <a:pPr lvl="0"/>
            <a:r>
              <a:rPr lang="en-US" sz="2600" b="0" i="0" dirty="0"/>
              <a:t>3. Execute APAC expansion strategy</a:t>
            </a:r>
          </a:p>
          <a:p>
            <a:pPr lvl="0"/>
            <a:r>
              <a:rPr lang="en-US" sz="2600" b="0" i="0" dirty="0"/>
              <a:t>4. Prepare board presentation</a:t>
            </a:r>
          </a:p>
          <a:p>
            <a:pPr lvl="0"/>
            <a:r>
              <a:rPr lang="en-US" sz="2600" b="0" i="0" dirty="0"/>
              <a:t>5. Schedule customer advisory board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4800" b="1" i="0" dirty="0">
                <a:solidFill>
                  <a:srgbClr val="4F81BD"/>
                </a:solidFill>
              </a:rPr>
              <a:t>Questions &amp; Discussion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3600" b="1" i="0" dirty="0">
                <a:solidFill>
                  <a:srgbClr val="666666"/>
                </a:solidFill>
              </a:rPr>
              <a:t>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2025-11-27T11:39:48Z</dcterms:created>
  <dcterms:modified xsi:type="dcterms:W3CDTF">2025-11-27T11:39:48Z</dcterms:modified>
</cp:coreProperties>
</file>