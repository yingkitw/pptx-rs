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Slides/notesSlide23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    <Relationship Id="rId9" Type="http://schemas.openxmlformats.org/officeDocument/2006/relationships/slide" Target="slides/slide7.xml"/>
    <Relationship Id="rId10" Type="http://schemas.openxmlformats.org/officeDocument/2006/relationships/slide" Target="slides/slide8.xml"/>
    <Relationship Id="rId11" Type="http://schemas.openxmlformats.org/officeDocument/2006/relationships/slide" Target="slides/slide9.xml"/>
    <Relationship Id="rId12" Type="http://schemas.openxmlformats.org/officeDocument/2006/relationships/slide" Target="slides/slide10.xml"/>
    <Relationship Id="rId13" Type="http://schemas.openxmlformats.org/officeDocument/2006/relationships/slide" Target="slides/slide11.xml"/>
    <Relationship Id="rId14" Type="http://schemas.openxmlformats.org/officeDocument/2006/relationships/slide" Target="slides/slide12.xml"/>
    <Relationship Id="rId15" Type="http://schemas.openxmlformats.org/officeDocument/2006/relationships/slide" Target="slides/slide13.xml"/>
    <Relationship Id="rId16" Type="http://schemas.openxmlformats.org/officeDocument/2006/relationships/slide" Target="slides/slide14.xml"/>
    <Relationship Id="rId17" Type="http://schemas.openxmlformats.org/officeDocument/2006/relationships/slide" Target="slides/slide15.xml"/>
    <Relationship Id="rId18" Type="http://schemas.openxmlformats.org/officeDocument/2006/relationships/slide" Target="slides/slide16.xml"/>
    <Relationship Id="rId19" Type="http://schemas.openxmlformats.org/officeDocument/2006/relationships/slide" Target="slides/slide17.xml"/>
    <Relationship Id="rId20" Type="http://schemas.openxmlformats.org/officeDocument/2006/relationships/slide" Target="slides/slide18.xml"/>
    <Relationship Id="rId21" Type="http://schemas.openxmlformats.org/officeDocument/2006/relationships/slide" Target="slides/slide19.xml"/>
    <Relationship Id="rId22" Type="http://schemas.openxmlformats.org/officeDocument/2006/relationships/slide" Target="slides/slide20.xml"/>
    <Relationship Id="rId23" Type="http://schemas.openxmlformats.org/officeDocument/2006/relationships/slide" Target="slides/slide21.xml"/>
    <Relationship Id="rId24" Type="http://schemas.openxmlformats.org/officeDocument/2006/relationships/slide" Target="slides/slide22.xml"/>
    <Relationship Id="rId25" Type="http://schemas.openxmlformats.org/officeDocument/2006/relationships/slide" Target="slides/slide23.xml"/>
    <Relationship Id="rId26" Type="http://schemas.openxmlformats.org/officeDocument/2006/relationships/slide" Target="slides/slide24.xml"/>
    <Relationship Id="rId27" Type="http://schemas.openxmlformats.org/officeDocument/2006/relationships/slide" Target="slides/slide25.xml"/>
    <Relationship Id="rId28" Type="http://schemas.openxmlformats.org/officeDocument/2006/relationships/slide" Target="slides/slide26.xml"/>
    <Relationship Id="rId29" Type="http://schemas.openxmlformats.org/officeDocument/2006/relationships/slide" Target="slides/slide27.xml"/>
    <Relationship Id="rId30" Type="http://schemas.openxmlformats.org/officeDocument/2006/relationships/slide" Target="slides/slide28.xml"/>
    <Relationship Id="rId31" Type="http://schemas.openxmlformats.org/officeDocument/2006/relationships/slide" Target="slides/slide29.xml"/>
    <Relationship Id="rId32" Type="http://schemas.openxmlformats.org/officeDocument/2006/relationships/slide" Target="slides/slide30.xml"/>
    <Relationship Id="rId33" Type="http://schemas.openxmlformats.org/officeDocument/2006/relationships/slide" Target="slides/slide31.xml"/>
    <Relationship Id="rId34" Type="http://schemas.openxmlformats.org/officeDocument/2006/relationships/slide" Target="slides/slide32.xml"/>
    <Relationship Id="rId35" Type="http://schemas.openxmlformats.org/officeDocument/2006/relationships/slide" Target="slides/slide33.xml"/>
    <Relationship Id="rId36" Type="http://schemas.openxmlformats.org/officeDocument/2006/relationships/slide" Target="slides/slide34.xml"/>
    <Relationship Id="rId3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23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3.xml"/>
<Relationship Id="rId2" Type="http://schemas.openxmlformats.org/officeDocument/2006/relationships/notesMaster" Target="../notesMasters/notesMaster1.xml"/>
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Emphasize the progress made
2. Highlight key achievements
3. Address any concerns about timeline
4. Open for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17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3200"/>
            <a:ext cx="8230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i="0" dirty="0">
                <a:solidFill>
                  <a:srgbClr val="1F497D"/>
                </a:solidFill>
              </a:rPr>
              <a:t>PPTX-RS Element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800" b="1" i="0" dirty="0">
                <a:solidFill>
                  <a:srgbClr val="C0504D"/>
                </a:solidFill>
              </a:rPr>
              <a:t>Section: Slide Layouts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1" dirty="0" u="sng">
                <a:solidFill>
                  <a:srgbClr val="1F497D"/>
                </a:solidFill>
              </a:rPr>
              <a:t>Text Formatting Options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Normal text (default)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Bold content text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Italic content text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Underlined content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Custom font size (28pt)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Custom color (#4F81BD)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Key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189200"/>
            <a:ext cx="82302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3200" b="1" i="0" dirty="0"/>
              <a:t>Large content area for emphasis</a:t>
            </a:r>
          </a:p>
          <a:p>
            <a:pPr lvl="0" marL="457200" indent="-457200">
              <a:buChar char="•"/>
            </a:pPr>
            <a:r>
              <a:rPr lang="en-US" sz="3200" b="1" i="0" dirty="0"/>
              <a:t>Perfect for key messages</a:t>
            </a:r>
          </a:p>
          <a:p>
            <a:pPr lvl="0" marL="457200" indent="-457200">
              <a:buChar char="•"/>
            </a:pPr>
            <a:r>
              <a:rPr lang="en-US" sz="3200" b="1" i="0" dirty="0"/>
              <a:t>Smaller title, bigger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Two Column Comparison</a:t>
            </a:r>
          </a:p>
        </p:txBody>
      </p:sp>
      <p:sp>
        <p:nvSpPr>
          <p:cNvPr id="3" name="Left Content"/>
          <p:cNvSpPr txBox="1"/>
          <p:nvPr/>
        </p:nvSpPr>
        <p:spPr>
          <a:xfrm>
            <a:off x="4572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Left Column Item 1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Left Column Item 2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Left Column Item 3</a:t>
            </a:r>
          </a:p>
        </p:txBody>
      </p:sp>
      <p:sp>
        <p:nvSpPr>
          <p:cNvPr id="4" name="Right Content"/>
          <p:cNvSpPr txBox="1"/>
          <p:nvPr/>
        </p:nvSpPr>
        <p:spPr>
          <a:xfrm>
            <a:off x="45723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Right Column Item 1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Right Column Item 2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Right Column Item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Table with Cell Styling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4500000" cy="1600000"/>
        </p:xfrm>
        <a:graphic>
          <a:graphicData uri="http://schemas.openxmlformats.org/drawingml/2006/table">
            <a:tbl>
              <a:tblPr firstRow="1" bandHVals="1"/>
              <a:tblGrid>
                <a:gridCol w="1500000"/>
                <a:gridCol w="1500000"/>
                <a:gridCol w="15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Header 1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Header 2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Header 3</a:t>
                      </a:r>
                    </a:p>
                  </a:txBody>
                  <a:tcPr>
                    <a:solidFill>
                      <a:srgbClr val="8064A2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Bold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Colored</a:t>
                      </a:r>
                    </a:p>
                  </a:txBody>
                  <a:tcPr>
                    <a:solidFill>
                      <a:srgbClr val="9BBB5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Red BG</a:t>
                      </a: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Green BG</a:t>
                      </a:r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Blue BG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Row 3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 3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Row 3 Col 3</a:t>
                      </a:r>
                    </a:p>
                  </a:txBody>
                  <a:tcPr>
                    <a:solidFill>
                      <a:srgbClr val="F7964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Chart Types: Bar, Line, Pie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Bar Chart: Compare categories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Line Chart: Show trends over time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Pie Chart: Show proportions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Shape Types with Color Fills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2000000" cy="1000000"/>
          </a:xfrm>
          <a:prstGeom prst="rect">
            <a:avLst/>
          </a:prstGeom>
          <a:solidFill>
            <a:srgbClr val="4F81BD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499" dirty="0">
                <a:solidFill>
                  <a:srgbClr val="FFFFFF"/>
                </a:solidFill>
              </a:rPr>
              <a:t>Rectangle</a:t>
            </a:r>
          </a:p>
        </p:txBody>
      </p:sp>
      <p:sp>
        <p:nvSpPr>
          <p:cNvPr id="11" name="Shape 11"/>
          <p:cNvSpPr/>
          <p:nvPr/>
        </p:nvSpPr>
        <p:spPr>
          <a:xfrm>
            <a:off x="3000000" y="1600000"/>
            <a:ext cx="2000000" cy="1000000"/>
          </a:xfrm>
          <a:prstGeom prst="ellipse">
            <a:avLst/>
          </a:prstGeom>
          <a:solidFill>
            <a:srgbClr val="9BBB59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000000"/>
                </a:solidFill>
              </a:rPr>
              <a:t>Ellipse</a:t>
            </a:r>
          </a:p>
        </p:txBody>
      </p:sp>
      <p:sp>
        <p:nvSpPr>
          <p:cNvPr id="12" name="Shape 12"/>
          <p:cNvSpPr/>
          <p:nvPr/>
        </p:nvSpPr>
        <p:spPr>
          <a:xfrm>
            <a:off x="5500000" y="1600000"/>
            <a:ext cx="2000000" cy="1000000"/>
          </a:xfrm>
          <a:prstGeom prst="roundRect">
            <a:avLst/>
          </a:prstGeom>
          <a:solidFill>
            <a:srgbClr val="C0504D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Rounded</a:t>
            </a:r>
          </a:p>
        </p:txBody>
      </p:sp>
      <p:sp>
        <p:nvSpPr>
          <p:cNvPr id="13" name="Shape 13"/>
          <p:cNvSpPr/>
          <p:nvPr/>
        </p:nvSpPr>
        <p:spPr>
          <a:xfrm>
            <a:off x="1500000" y="3000000"/>
            <a:ext cx="1500000" cy="1200000"/>
          </a:xfrm>
          <a:prstGeom prst="triangle">
            <a:avLst/>
          </a:prstGeom>
          <a:solidFill>
            <a:srgbClr val="8064A2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952" dirty="0">
                <a:solidFill>
                  <a:srgbClr val="FFFFFF"/>
                </a:solidFill>
              </a:rPr>
              <a:t>Triangle</a:t>
            </a:r>
          </a:p>
        </p:txBody>
      </p:sp>
      <p:sp>
        <p:nvSpPr>
          <p:cNvPr id="14" name="Shape 14"/>
          <p:cNvSpPr/>
          <p:nvPr/>
        </p:nvSpPr>
        <p:spPr>
          <a:xfrm>
            <a:off x="4000000" y="3000000"/>
            <a:ext cx="1500000" cy="1200000"/>
          </a:xfrm>
          <a:prstGeom prst="diamond">
            <a:avLst/>
          </a:prstGeom>
          <a:solidFill>
            <a:srgbClr val="F79646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374" dirty="0">
                <a:solidFill>
                  <a:srgbClr val="000000"/>
                </a:solidFill>
              </a:rPr>
              <a:t>Diamond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Gradient Fills - Multiple Directions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2500000" cy="1200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937" dirty="0">
                <a:solidFill>
                  <a:srgbClr val="000000"/>
                </a:solidFill>
              </a:rPr>
              <a:t>Horizontal</a:t>
            </a:r>
          </a:p>
        </p:txBody>
      </p:sp>
      <p:sp>
        <p:nvSpPr>
          <p:cNvPr id="11" name="Shape 11"/>
          <p:cNvSpPr/>
          <p:nvPr/>
        </p:nvSpPr>
        <p:spPr>
          <a:xfrm>
            <a:off x="3200000" y="1600000"/>
            <a:ext cx="2500000" cy="1200000"/>
          </a:xfrm>
          <a:prstGeom prst="rect">
            <a:avLst/>
          </a:prstGeom>
          <a:gradFill>
            <a:gsLst>
              <a:gs pos="0">
                <a:srgbClr val="2E7D32"/>
              </a:gs>
              <a:gs pos="100000">
                <a:srgbClr val="81C784"/>
              </a:gs>
            </a:gsLst>
            <a:lin ang="5400000" scaled="1"/>
          </a:gra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000000"/>
                </a:solidFill>
              </a:rPr>
              <a:t>Vertical</a:t>
            </a:r>
          </a:p>
        </p:txBody>
      </p:sp>
      <p:sp>
        <p:nvSpPr>
          <p:cNvPr id="12" name="Shape 12"/>
          <p:cNvSpPr/>
          <p:nvPr/>
        </p:nvSpPr>
        <p:spPr>
          <a:xfrm>
            <a:off x="5900000" y="1600000"/>
            <a:ext cx="2500000" cy="1200000"/>
          </a:xfrm>
          <a:prstGeom prst="roundRect">
            <a:avLst/>
          </a:prstGeom>
          <a:gradFill>
            <a:gsLst>
              <a:gs pos="0">
                <a:srgbClr val="C62828"/>
              </a:gs>
              <a:gs pos="100000">
                <a:srgbClr val="EF9A9A"/>
              </a:gs>
            </a:gsLst>
            <a:lin ang="2700000" scaled="1"/>
          </a:gra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000000"/>
                </a:solidFill>
              </a:rPr>
              <a:t>Diagonal</a:t>
            </a:r>
          </a:p>
        </p:txBody>
      </p:sp>
      <p:sp>
        <p:nvSpPr>
          <p:cNvPr id="13" name="Shape 13"/>
          <p:cNvSpPr/>
          <p:nvPr/>
        </p:nvSpPr>
        <p:spPr>
          <a:xfrm>
            <a:off x="1800000" y="3200000"/>
            <a:ext cx="2500000" cy="1200000"/>
          </a:xfrm>
          <a:prstGeom prst="ellipse">
            <a:avLst/>
          </a:prstGeom>
          <a:gradFill>
            <a:gsLst>
              <a:gs pos="0">
                <a:srgbClr val="FF6F00"/>
              </a:gs>
              <a:gs pos="50000">
                <a:srgbClr val="FFC107"/>
              </a:gs>
              <a:gs pos="100000">
                <a:srgbClr val="FFEB3B"/>
              </a:gs>
            </a:gsLst>
            <a:lin ang="0" scaled="1"/>
          </a:gra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000000"/>
                </a:solidFill>
              </a:rPr>
              <a:t>3-Color</a:t>
            </a:r>
          </a:p>
        </p:txBody>
      </p:sp>
      <p:sp>
        <p:nvSpPr>
          <p:cNvPr id="14" name="Shape 14"/>
          <p:cNvSpPr/>
          <p:nvPr/>
        </p:nvSpPr>
        <p:spPr>
          <a:xfrm>
            <a:off x="4800000" y="3200000"/>
            <a:ext cx="2500000" cy="1200000"/>
          </a:xfrm>
          <a:prstGeom prst="roundRect">
            <a:avLst/>
          </a:prstGeom>
          <a:gradFill>
            <a:gsLst>
              <a:gs pos="0">
                <a:srgbClr val="7B1FA2"/>
              </a:gs>
              <a:gs pos="100000">
                <a:srgbClr val="E1BEE7"/>
              </a:gs>
            </a:gsLst>
            <a:lin ang="8100000" scaled="1"/>
          </a:gra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937" dirty="0">
                <a:solidFill>
                  <a:srgbClr val="000000"/>
                </a:solidFill>
              </a:rPr>
              <a:t>135° Angle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Transparency Effects - Overlapping Shapes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800000"/>
            <a:ext cx="3000000" cy="2000000"/>
          </a:xfrm>
          <a:prstGeom prst="rect">
            <a:avLst/>
          </a:prstGeom>
          <a:solidFill>
            <a:srgbClr val="1565C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294" dirty="0">
                <a:solidFill>
                  <a:srgbClr val="FFFFFF"/>
                </a:solidFill>
              </a:rPr>
              <a:t>Base (100%)</a:t>
            </a:r>
          </a:p>
        </p:txBody>
      </p:sp>
      <p:sp>
        <p:nvSpPr>
          <p:cNvPr id="11" name="Shape 11"/>
          <p:cNvSpPr/>
          <p:nvPr/>
        </p:nvSpPr>
        <p:spPr>
          <a:xfrm>
            <a:off x="2000000" y="2200000"/>
            <a:ext cx="2500000" cy="1500000"/>
          </a:xfrm>
          <a:prstGeom prst="rect">
            <a:avLst/>
          </a:prstGeom>
          <a:solidFill>
            <a:srgbClr val="F44336">
              <a:alpha val="75000"/>
            </a:srgbClr>
          </a:solidFill>
          <a:ln w="25400">
            <a:solidFill>
              <a:srgbClr val="B71C1C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624" dirty="0">
                <a:solidFill>
                  <a:srgbClr val="FFFFFF"/>
                </a:solidFill>
              </a:rPr>
              <a:t>25% Transparent</a:t>
            </a:r>
          </a:p>
        </p:txBody>
      </p:sp>
      <p:sp>
        <p:nvSpPr>
          <p:cNvPr id="12" name="Shape 12"/>
          <p:cNvSpPr/>
          <p:nvPr/>
        </p:nvSpPr>
        <p:spPr>
          <a:xfrm>
            <a:off x="4500000" y="1800000"/>
            <a:ext cx="2500000" cy="2000000"/>
          </a:xfrm>
          <a:prstGeom prst="ellipse">
            <a:avLst/>
          </a:prstGeom>
          <a:solidFill>
            <a:srgbClr val="4CAF50">
              <a:alpha val="50000"/>
            </a:srgbClr>
          </a:solidFill>
          <a:ln w="25400">
            <a:solidFill>
              <a:srgbClr val="1B5E2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624" dirty="0">
                <a:solidFill>
                  <a:srgbClr val="000000"/>
                </a:solidFill>
              </a:rPr>
              <a:t>50% Transparent</a:t>
            </a:r>
          </a:p>
        </p:txBody>
      </p:sp>
      <p:sp>
        <p:nvSpPr>
          <p:cNvPr id="13" name="Shape 13"/>
          <p:cNvSpPr/>
          <p:nvPr/>
        </p:nvSpPr>
        <p:spPr>
          <a:xfrm>
            <a:off x="5500000" y="2500000"/>
            <a:ext cx="2500000" cy="1500000"/>
          </a:xfrm>
          <a:prstGeom prst="roundRect">
            <a:avLst/>
          </a:prstGeom>
          <a:solidFill>
            <a:srgbClr val="FF9800">
              <a:alpha val="25000"/>
            </a:srgbClr>
          </a:solidFill>
          <a:ln w="25400">
            <a:solidFill>
              <a:srgbClr val="E6510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624" dirty="0">
                <a:solidFill>
                  <a:srgbClr val="000000"/>
                </a:solidFill>
              </a:rPr>
              <a:t>75% Transparent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Styled Connectors - Types, Arrows, Dashes</a:t>
            </a:r>
          </a:p>
        </p:txBody>
      </p:sp>
      <p:sp>
        <p:nvSpPr>
          <p:cNvPr id="100" name="Shape 100"/>
          <p:cNvSpPr/>
          <p:nvPr/>
        </p:nvSpPr>
        <p:spPr>
          <a:xfrm>
            <a:off x="500000" y="1800000"/>
            <a:ext cx="1800000" cy="800000"/>
          </a:xfrm>
          <a:prstGeom prst="roundRect">
            <a:avLst/>
          </a:prstGeom>
          <a:solidFill>
            <a:srgbClr val="1565C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101" name="Shape 101"/>
          <p:cNvSpPr/>
          <p:nvPr/>
        </p:nvSpPr>
        <p:spPr>
          <a:xfrm>
            <a:off x="3500000" y="1800000"/>
            <a:ext cx="1800000" cy="800000"/>
          </a:xfrm>
          <a:prstGeom prst="roundRect">
            <a:avLst/>
          </a:prstGeom>
          <a:solidFill>
            <a:srgbClr val="2E7D32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049" dirty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02" name="Shape 102"/>
          <p:cNvSpPr/>
          <p:nvPr/>
        </p:nvSpPr>
        <p:spPr>
          <a:xfrm>
            <a:off x="6500000" y="1800000"/>
            <a:ext cx="1800000" cy="800000"/>
          </a:xfrm>
          <a:prstGeom prst="roundRect">
            <a:avLst/>
          </a:prstGeom>
          <a:solidFill>
            <a:srgbClr val="C62828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103" name="Shape 103"/>
          <p:cNvSpPr/>
          <p:nvPr/>
        </p:nvSpPr>
        <p:spPr>
          <a:xfrm>
            <a:off x="1000000" y="3200000"/>
            <a:ext cx="1500000" cy="800000"/>
          </a:xfrm>
          <a:prstGeom prst="ellipse">
            <a:avLst/>
          </a:prstGeom>
          <a:solidFill>
            <a:srgbClr val="7B1FA2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4" name="Shape 104"/>
          <p:cNvSpPr/>
          <p:nvPr/>
        </p:nvSpPr>
        <p:spPr>
          <a:xfrm>
            <a:off x="4000000" y="3200000"/>
            <a:ext cx="1500000" cy="800000"/>
          </a:xfrm>
          <a:prstGeom prst="ellipse">
            <a:avLst/>
          </a:prstGeom>
          <a:solidFill>
            <a:srgbClr val="00838F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5" name="Shape 105"/>
          <p:cNvSpPr/>
          <p:nvPr/>
        </p:nvSpPr>
        <p:spPr>
          <a:xfrm>
            <a:off x="7000000" y="3200000"/>
            <a:ext cx="1500000" cy="800000"/>
          </a:xfrm>
          <a:prstGeom prst="ellipse">
            <a:avLst/>
          </a:prstGeom>
          <a:solidFill>
            <a:srgbClr val="EF6C0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000000"/>
                </a:solidFill>
              </a:rPr>
              <a:t>C</a:t>
            </a:r>
          </a:p>
        </p:txBody>
      </p:sp>
      <p:cxnSp>
        <p:nvCxnSpPr>
          <p:cNvPr id="56" name="Connector 56"/>
          <p:cNvCxnSpPr>
</p:cNvCxnSpPr>
          <p:nvPr/>
        </p:nvCxnSpPr>
        <p:spPr>
          <a:xfrm>
            <a:off x="2300000" y="2200000"/>
            <a:ext cx="1200000" cy="0"/>
          </a:xfrm>
          <a:prstGeom prst="straightConnector1">
            <a:avLst/>
          </a:prstGeom>
          <a:ln w="25400">
            <a:solidFill>
              <a:srgbClr val="1565C0"/>
            </a:solidFill>
            <a:prstDash val="solid"/>
            <a:tailEnd type="triangle" w="lg" len="lg"/>
          </a:ln>
        </p:spPr>
      </p:cxnSp>
      <p:cxnSp>
        <p:nvCxnSpPr>
          <p:cNvPr id="57" name="Connector 57"/>
          <p:cNvCxnSpPr>
</p:cNvCxnSpPr>
          <p:nvPr/>
        </p:nvCxnSpPr>
        <p:spPr>
          <a:xfrm>
            <a:off x="5300000" y="2200000"/>
            <a:ext cx="1200000" cy="0"/>
          </a:xfrm>
          <a:prstGeom prst="bentConnector3">
            <a:avLst/>
          </a:prstGeom>
          <a:ln w="38100">
            <a:solidFill>
              <a:srgbClr val="2E7D32"/>
            </a:solidFill>
            <a:prstDash val="dash"/>
            <a:tailEnd type="stealth" w="med" len="med"/>
          </a:ln>
        </p:spPr>
      </p:cxnSp>
      <p:cxnSp>
        <p:nvCxnSpPr>
          <p:cNvPr id="58" name="Connector 58"/>
          <p:cNvCxnSpPr>
</p:cNvCxnSpPr>
          <p:nvPr/>
        </p:nvCxnSpPr>
        <p:spPr>
          <a:xfrm>
            <a:off x="2500000" y="3600000"/>
            <a:ext cx="1500000" cy="0"/>
          </a:xfrm>
          <a:prstGeom prst="curvedConnector3">
            <a:avLst/>
          </a:prstGeom>
          <a:ln w="19050">
            <a:solidFill>
              <a:srgbClr val="7B1FA2"/>
            </a:solidFill>
            <a:prstDash val="dashDot"/>
            <a:headEnd type="oval" w="med" len="med"/>
            <a:tailEnd type="diamond" w="med" len="med"/>
          </a:ln>
        </p:spPr>
      </p:cxnSp>
      <p:cxnSp>
        <p:nvCxnSpPr>
          <p:cNvPr id="59" name="Connector 59"/>
          <p:cNvCxnSpPr>
</p:cNvCxnSpPr>
          <p:nvPr/>
        </p:nvCxnSpPr>
        <p:spPr>
          <a:xfrm>
            <a:off x="5500000" y="3600000"/>
            <a:ext cx="1500000" cy="0"/>
          </a:xfrm>
          <a:prstGeom prst="straightConnector1">
            <a:avLst/>
          </a:prstGeom>
          <a:ln w="12700">
            <a:solidFill>
              <a:srgbClr val="00838F"/>
            </a:solidFill>
            <a:prstDash val="dot"/>
            <a:tailEnd type="arrow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Image Placeholders</a:t>
            </a:r>
          </a:p>
        </p:txBody>
      </p:sp>
      <p:sp>
        <p:nvSpPr>
          <p:cNvPr id="20" name="Image Placeholder: logo.png"/>
          <p:cNvSpPr/>
          <p:nvPr/>
        </p:nvSpPr>
        <p:spPr>
          <a:xfrm>
            <a:off x="500000" y="1600000"/>
            <a:ext cx="2500000" cy="1800000"/>
          </a:xfrm>
          <a:prstGeom prst="rect">
            <a:avLst/>
          </a:prstGeom>
          <a:solidFill>
            <a:srgbClr val="E0E0E0"/>
          </a:solidFill>
          <a:ln w="12700">
            <a:solidFill>
              <a:srgbClr val="808080"/>
            </a:solidFill>
          </a:ln>
        </p:spPr>
        <p:txBody>
          <a:bodyPr wrap="square" rtlCol="0" anchor="ctr"/>
          <a:lstStyle/>
          <a:p>
            <a:pPr algn="ctr"/>
            <a:r>
              <a:rPr lang="en-US" sz="1400"/>
              <a:t>📷 logo.png</a:t>
            </a:r>
          </a:p>
        </p:txBody>
      </p:sp>
      <p:sp>
        <p:nvSpPr>
          <p:cNvPr id="21" name="Image Placeholder: photo.jpg"/>
          <p:cNvSpPr/>
          <p:nvPr/>
        </p:nvSpPr>
        <p:spPr>
          <a:xfrm>
            <a:off x="3500000" y="1600000"/>
            <a:ext cx="2500000" cy="1800000"/>
          </a:xfrm>
          <a:prstGeom prst="rect">
            <a:avLst/>
          </a:prstGeom>
          <a:solidFill>
            <a:srgbClr val="E0E0E0"/>
          </a:solidFill>
          <a:ln w="12700">
            <a:solidFill>
              <a:srgbClr val="808080"/>
            </a:solidFill>
          </a:ln>
        </p:spPr>
        <p:txBody>
          <a:bodyPr wrap="square" rtlCol="0" anchor="ctr"/>
          <a:lstStyle/>
          <a:p>
            <a:pPr algn="ctr"/>
            <a:r>
              <a:rPr lang="en-US" sz="1400"/>
              <a:t>📷 photo.jpg</a:t>
            </a:r>
          </a:p>
        </p:txBody>
      </p:sp>
      <p:sp>
        <p:nvSpPr>
          <p:cNvPr id="22" name="Image Placeholder: diagram.png"/>
          <p:cNvSpPr/>
          <p:nvPr/>
        </p:nvSpPr>
        <p:spPr>
          <a:xfrm>
            <a:off x="6500000" y="1600000"/>
            <a:ext cx="2000000" cy="1800000"/>
          </a:xfrm>
          <a:prstGeom prst="rect">
            <a:avLst/>
          </a:prstGeom>
          <a:solidFill>
            <a:srgbClr val="E0E0E0"/>
          </a:solidFill>
          <a:ln w="12700">
            <a:solidFill>
              <a:srgbClr val="808080"/>
            </a:solidFill>
          </a:ln>
        </p:spPr>
        <p:txBody>
          <a:bodyPr wrap="square" rtlCol="0" anchor="ctr"/>
          <a:lstStyle/>
          <a:p>
            <a:pPr algn="ctr"/>
            <a:r>
              <a:rPr lang="en-US" sz="1400"/>
              <a:t>📷 diagram.png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E79"/>
                </a:solidFill>
              </a:rPr>
              <a:t>Financial Report - Advanced Table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300000" y="1600000"/>
          <a:ext cx="8000000" cy="2000000"/>
        </p:xfrm>
        <a:graphic>
          <a:graphicData uri="http://schemas.openxmlformats.org/drawingml/2006/table">
            <a:tbl>
              <a:tblPr firstRow="1" bandHVals="1"/>
              <a:tblGrid>
                <a:gridCol w="2000000"/>
                <a:gridCol w="2000000"/>
                <a:gridCol w="2000000"/>
                <a:gridCol w="2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 sz="1400">
                          <a:solidFill>
                            <a:srgbClr val="FFFFFF"/>
                          </a:solidFill>
                        </a:rPr>
                        <a:t>Q1 2024 Financial Report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/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/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/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Expenses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Profit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Product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$1,250,000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$450,000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$800,000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$890,000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$320,000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$570,000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$2,140,000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$770,000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6100"/>
                          </a:solidFill>
                        </a:rPr>
                        <a:t>$1,370,000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4472C4"/>
                </a:solidFill>
              </a:rPr>
              <a:t>Pricing Comparison Matrix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600000"/>
          <a:ext cx="6500000" cy="2400000"/>
        </p:xfrm>
        <a:graphic>
          <a:graphicData uri="http://schemas.openxmlformats.org/drawingml/2006/table">
            <a:tbl>
              <a:tblPr firstRow="1" bandHVals="1"/>
              <a:tblGrid>
                <a:gridCol w="2000000"/>
                <a:gridCol w="1500000"/>
                <a:gridCol w="1500000"/>
                <a:gridCol w="15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Basic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Pro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Enterprise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5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50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Unlimited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Unlimited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24/7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Dedicated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API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Yes + Priority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Price/month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Development Process Flow</a:t>
            </a:r>
          </a:p>
        </p:txBody>
      </p:sp>
      <p:sp>
        <p:nvSpPr>
          <p:cNvPr id="10" name="Shape 10"/>
          <p:cNvSpPr/>
          <p:nvPr/>
        </p:nvSpPr>
        <p:spPr>
          <a:xfrm>
            <a:off x="300000" y="2000000"/>
            <a:ext cx="1400000" cy="80000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4" dirty="0">
                <a:solidFill>
                  <a:srgbClr val="FFFFFF"/>
                </a:solidFill>
              </a:rPr>
              <a:t>1. Research</a:t>
            </a:r>
          </a:p>
        </p:txBody>
      </p:sp>
      <p:sp>
        <p:nvSpPr>
          <p:cNvPr id="11" name="Shape 11"/>
          <p:cNvSpPr/>
          <p:nvPr/>
        </p:nvSpPr>
        <p:spPr>
          <a:xfrm>
            <a:off x="1800000" y="2200000"/>
            <a:ext cx="400000" cy="400000"/>
          </a:xfrm>
          <a:prstGeom prst="rightArrow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2300000" y="2000000"/>
            <a:ext cx="1400000" cy="80000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449" dirty="0">
                <a:solidFill>
                  <a:srgbClr val="000000"/>
                </a:solidFill>
              </a:rPr>
              <a:t>2. Design</a:t>
            </a:r>
          </a:p>
        </p:txBody>
      </p:sp>
      <p:sp>
        <p:nvSpPr>
          <p:cNvPr id="13" name="Shape 13"/>
          <p:cNvSpPr/>
          <p:nvPr/>
        </p:nvSpPr>
        <p:spPr>
          <a:xfrm>
            <a:off x="3800000" y="2200000"/>
            <a:ext cx="400000" cy="400000"/>
          </a:xfrm>
          <a:prstGeom prst="rightArrow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4300000" y="2000000"/>
            <a:ext cx="1400000" cy="80000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204" dirty="0">
                <a:solidFill>
                  <a:srgbClr val="000000"/>
                </a:solidFill>
              </a:rPr>
              <a:t>3. Develop</a:t>
            </a:r>
          </a:p>
        </p:txBody>
      </p:sp>
      <p:sp>
        <p:nvSpPr>
          <p:cNvPr id="15" name="Shape 15"/>
          <p:cNvSpPr/>
          <p:nvPr/>
        </p:nvSpPr>
        <p:spPr>
          <a:xfrm>
            <a:off x="5800000" y="2200000"/>
            <a:ext cx="400000" cy="400000"/>
          </a:xfrm>
          <a:prstGeom prst="rightArrow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6300000" y="2000000"/>
            <a:ext cx="1400000" cy="800000"/>
          </a:xfrm>
          <a:prstGeom prst="roundRect">
            <a:avLst/>
          </a:prstGeom>
          <a:solidFill>
            <a:srgbClr val="5B9BD5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449" dirty="0">
                <a:solidFill>
                  <a:srgbClr val="000000"/>
                </a:solidFill>
              </a:rPr>
              <a:t>4. Deploy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E79"/>
                </a:solidFill>
              </a:rPr>
              <a:t>Organization Structure</a:t>
            </a:r>
          </a:p>
        </p:txBody>
      </p:sp>
      <p:sp>
        <p:nvSpPr>
          <p:cNvPr id="10" name="Shape 10"/>
          <p:cNvSpPr/>
          <p:nvPr/>
        </p:nvSpPr>
        <p:spPr>
          <a:xfrm>
            <a:off x="3500000" y="1400000"/>
            <a:ext cx="2000000" cy="600000"/>
          </a:xfrm>
          <a:prstGeom prst="roundRect">
            <a:avLst/>
          </a:prstGeom>
          <a:solidFill>
            <a:srgbClr val="1F4E79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779" dirty="0">
                <a:solidFill>
                  <a:srgbClr val="FFFFFF"/>
                </a:solidFill>
              </a:rPr>
              <a:t>CEO</a:t>
            </a:r>
          </a:p>
        </p:txBody>
      </p:sp>
      <p:sp>
        <p:nvSpPr>
          <p:cNvPr id="11" name="Shape 11"/>
          <p:cNvSpPr/>
          <p:nvPr/>
        </p:nvSpPr>
        <p:spPr>
          <a:xfrm>
            <a:off x="4450000" y="2000000"/>
            <a:ext cx="100000" cy="400000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950000" y="2400000"/>
            <a:ext cx="5100000" cy="50000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1000000" y="2600000"/>
            <a:ext cx="1800000" cy="500000"/>
          </a:xfrm>
          <a:prstGeom prst="roundRect">
            <a:avLst/>
          </a:prstGeom>
          <a:solidFill>
            <a:srgbClr val="2E75B6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>
                <a:solidFill>
                  <a:srgbClr val="FFFFFF"/>
                </a:solidFill>
              </a:rPr>
              <a:t>CTO</a:t>
            </a:r>
          </a:p>
        </p:txBody>
      </p:sp>
      <p:sp>
        <p:nvSpPr>
          <p:cNvPr id="14" name="Shape 14"/>
          <p:cNvSpPr/>
          <p:nvPr/>
        </p:nvSpPr>
        <p:spPr>
          <a:xfrm>
            <a:off x="3600000" y="2600000"/>
            <a:ext cx="1800000" cy="500000"/>
          </a:xfrm>
          <a:prstGeom prst="roundRect">
            <a:avLst/>
          </a:prstGeom>
          <a:solidFill>
            <a:srgbClr val="2E75B6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>
                <a:solidFill>
                  <a:srgbClr val="FFFFFF"/>
                </a:solidFill>
              </a:rPr>
              <a:t>CFO</a:t>
            </a:r>
          </a:p>
        </p:txBody>
      </p:sp>
      <p:sp>
        <p:nvSpPr>
          <p:cNvPr id="15" name="Shape 15"/>
          <p:cNvSpPr/>
          <p:nvPr/>
        </p:nvSpPr>
        <p:spPr>
          <a:xfrm>
            <a:off x="6200000" y="2600000"/>
            <a:ext cx="1800000" cy="500000"/>
          </a:xfrm>
          <a:prstGeom prst="roundRect">
            <a:avLst/>
          </a:prstGeom>
          <a:solidFill>
            <a:srgbClr val="2E75B6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>
                <a:solidFill>
                  <a:srgbClr val="FFFFFF"/>
                </a:solidFill>
              </a:rPr>
              <a:t>COO</a:t>
            </a:r>
          </a:p>
        </p:txBody>
      </p:sp>
      <p:sp>
        <p:nvSpPr>
          <p:cNvPr id="16" name="Shape 16"/>
          <p:cNvSpPr/>
          <p:nvPr/>
        </p:nvSpPr>
        <p:spPr>
          <a:xfrm>
            <a:off x="1850000" y="2450000"/>
            <a:ext cx="50000" cy="150000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4450000" y="2450000"/>
            <a:ext cx="50000" cy="150000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7050000" y="2450000"/>
            <a:ext cx="50000" cy="150000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500000" y="3300000"/>
            <a:ext cx="1200000" cy="400000"/>
          </a:xfrm>
          <a:prstGeom prst="rect">
            <a:avLst/>
          </a:prstGeom>
          <a:solidFill>
            <a:srgbClr val="BDD7EE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1717" dirty="0">
                <a:solidFill>
                  <a:srgbClr val="000000"/>
                </a:solidFill>
              </a:rPr>
              <a:t>Engineering</a:t>
            </a:r>
          </a:p>
        </p:txBody>
      </p:sp>
      <p:sp>
        <p:nvSpPr>
          <p:cNvPr id="20" name="Shape 20"/>
          <p:cNvSpPr/>
          <p:nvPr/>
        </p:nvSpPr>
        <p:spPr>
          <a:xfrm>
            <a:off x="1800000" y="3300000"/>
            <a:ext cx="1200000" cy="400000"/>
          </a:xfrm>
          <a:prstGeom prst="rect">
            <a:avLst/>
          </a:prstGeom>
          <a:solidFill>
            <a:srgbClr val="BDD7EE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>
                <a:solidFill>
                  <a:srgbClr val="000000"/>
                </a:solidFill>
              </a:rPr>
              <a:t>Product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PDCA Continuous Improvement Cycle</a:t>
            </a:r>
          </a:p>
        </p:txBody>
      </p:sp>
      <p:sp>
        <p:nvSpPr>
          <p:cNvPr id="10" name="Shape 10"/>
          <p:cNvSpPr/>
          <p:nvPr/>
        </p:nvSpPr>
        <p:spPr>
          <a:xfrm>
            <a:off x="1500000" y="1600000"/>
            <a:ext cx="2500000" cy="150000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t">
            <a:normAutofit/>
          </a:bodyPr>
          <a:lstStyle/>
          <a:p>
            <a:pPr algn="l"/>
            <a:r>
              <a:rPr lang="en-US" sz="2362" dirty="0">
                <a:solidFill>
                  <a:srgbClr val="FFFFFF"/>
                </a:solidFill>
              </a:rPr>
              <a:t>PLAN
Define goals
and strategy</a:t>
            </a:r>
          </a:p>
        </p:txBody>
      </p:sp>
      <p:sp>
        <p:nvSpPr>
          <p:cNvPr id="11" name="Shape 11"/>
          <p:cNvSpPr/>
          <p:nvPr/>
        </p:nvSpPr>
        <p:spPr>
          <a:xfrm>
            <a:off x="4500000" y="1600000"/>
            <a:ext cx="2500000" cy="150000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t">
            <a:normAutofit/>
          </a:bodyPr>
          <a:lstStyle/>
          <a:p>
            <a:pPr algn="l"/>
            <a:r>
              <a:rPr lang="en-US" sz="2362" dirty="0">
                <a:solidFill>
                  <a:srgbClr val="000000"/>
                </a:solidFill>
              </a:rPr>
              <a:t>DO
Implement
the plan</a:t>
            </a:r>
          </a:p>
        </p:txBody>
      </p:sp>
      <p:sp>
        <p:nvSpPr>
          <p:cNvPr id="12" name="Shape 12"/>
          <p:cNvSpPr/>
          <p:nvPr/>
        </p:nvSpPr>
        <p:spPr>
          <a:xfrm>
            <a:off x="4500000" y="3300000"/>
            <a:ext cx="2500000" cy="150000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t">
            <a:normAutofit/>
          </a:bodyPr>
          <a:lstStyle/>
          <a:p>
            <a:pPr algn="l"/>
            <a:r>
              <a:rPr lang="en-US" sz="2362" dirty="0">
                <a:solidFill>
                  <a:srgbClr val="000000"/>
                </a:solidFill>
              </a:rPr>
              <a:t>CHECK
Measure
results</a:t>
            </a:r>
          </a:p>
        </p:txBody>
      </p:sp>
      <p:sp>
        <p:nvSpPr>
          <p:cNvPr id="13" name="Shape 13"/>
          <p:cNvSpPr/>
          <p:nvPr/>
        </p:nvSpPr>
        <p:spPr>
          <a:xfrm>
            <a:off x="1500000" y="3300000"/>
            <a:ext cx="2500000" cy="1500000"/>
          </a:xfrm>
          <a:prstGeom prst="roundRect">
            <a:avLst/>
          </a:prstGeom>
          <a:solidFill>
            <a:srgbClr val="FFC000"/>
          </a:solidFill>
        </p:spPr>
        <p:txBody>
          <a:bodyPr wrap="square" rtlCol="0" anchor="t">
            <a:normAutofit/>
          </a:bodyPr>
          <a:lstStyle/>
          <a:p>
            <a:pPr algn="l"/>
            <a:r>
              <a:rPr lang="en-US" sz="2362" dirty="0">
                <a:solidFill>
                  <a:srgbClr val="000000"/>
                </a:solidFill>
              </a:rPr>
              <a:t>ACT
Adjust and
improve</a:t>
            </a:r>
          </a:p>
        </p:txBody>
      </p:sp>
      <p:sp>
        <p:nvSpPr>
          <p:cNvPr id="14" name="Shape 14"/>
          <p:cNvSpPr/>
          <p:nvPr/>
        </p:nvSpPr>
        <p:spPr>
          <a:xfrm>
            <a:off x="4100000" y="2100000"/>
            <a:ext cx="300000" cy="300000"/>
          </a:xfrm>
          <a:prstGeom prst="rightArrow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5600000" y="3200000"/>
            <a:ext cx="300000" cy="200000"/>
          </a:xfrm>
          <a:prstGeom prst="downArrow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4100000" y="3800000"/>
            <a:ext cx="300000" cy="300000"/>
          </a:xfrm>
          <a:prstGeom prst="leftArrow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2600000" y="3200000"/>
            <a:ext cx="300000" cy="200000"/>
          </a:xfrm>
          <a:prstGeom prst="upArrow">
            <a:avLst/>
          </a:prstGeom>
          <a:solidFill>
            <a:srgbClr val="A5A5A5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Maslow's Hierarchy of Needs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4000000"/>
            <a:ext cx="8000000" cy="600000"/>
          </a:xfrm>
          <a:prstGeom prst="trapezoid">
            <a:avLst/>
          </a:prstGeom>
          <a:solidFill>
            <a:srgbClr val="C0000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999" dirty="0">
                <a:solidFill>
                  <a:srgbClr val="FFFFFF"/>
                </a:solidFill>
              </a:rPr>
              <a:t>Physiological Needs - Food, Water, Shelter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3400000"/>
            <a:ext cx="7000000" cy="600000"/>
          </a:xfrm>
          <a:prstGeom prst="trapezoid">
            <a:avLst/>
          </a:prstGeom>
          <a:solidFill>
            <a:srgbClr val="ED7D31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242" dirty="0">
                <a:solidFill>
                  <a:srgbClr val="000000"/>
                </a:solidFill>
              </a:rPr>
              <a:t>Safety Needs - Security, Stability</a:t>
            </a:r>
          </a:p>
        </p:txBody>
      </p:sp>
      <p:sp>
        <p:nvSpPr>
          <p:cNvPr id="12" name="Shape 12"/>
          <p:cNvSpPr/>
          <p:nvPr/>
        </p:nvSpPr>
        <p:spPr>
          <a:xfrm>
            <a:off x="1500000" y="2800000"/>
            <a:ext cx="6000000" cy="600000"/>
          </a:xfrm>
          <a:prstGeom prst="trapezoid">
            <a:avLst/>
          </a:prstGeom>
          <a:solidFill>
            <a:srgbClr val="FFC00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952" dirty="0">
                <a:solidFill>
                  <a:srgbClr val="000000"/>
                </a:solidFill>
              </a:rPr>
              <a:t>Love &amp; Belonging - Relationships</a:t>
            </a:r>
          </a:p>
        </p:txBody>
      </p:sp>
      <p:sp>
        <p:nvSpPr>
          <p:cNvPr id="13" name="Shape 13"/>
          <p:cNvSpPr/>
          <p:nvPr/>
        </p:nvSpPr>
        <p:spPr>
          <a:xfrm>
            <a:off x="2000000" y="2200000"/>
            <a:ext cx="5000000" cy="600000"/>
          </a:xfrm>
          <a:prstGeom prst="trapezoid">
            <a:avLst/>
          </a:prstGeom>
          <a:solidFill>
            <a:srgbClr val="70AD47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715" dirty="0">
                <a:solidFill>
                  <a:srgbClr val="000000"/>
                </a:solidFill>
              </a:rPr>
              <a:t>Esteem - Achievement, Respect</a:t>
            </a:r>
          </a:p>
        </p:txBody>
      </p:sp>
      <p:sp>
        <p:nvSpPr>
          <p:cNvPr id="14" name="Shape 14"/>
          <p:cNvSpPr/>
          <p:nvPr/>
        </p:nvSpPr>
        <p:spPr>
          <a:xfrm>
            <a:off x="2500000" y="1500000"/>
            <a:ext cx="4000000" cy="700000"/>
          </a:xfrm>
          <a:prstGeom prst="triangle">
            <a:avLst/>
          </a:prstGeom>
          <a:solidFill>
            <a:srgbClr val="4472C4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499" dirty="0">
                <a:solidFill>
                  <a:srgbClr val="FFFFFF"/>
                </a:solidFill>
              </a:rPr>
              <a:t>Self-Actualization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Finding Your Ikigai - Venn Diagram</a:t>
            </a:r>
          </a:p>
        </p:txBody>
      </p:sp>
      <p:sp>
        <p:nvSpPr>
          <p:cNvPr id="10" name="Shape 10"/>
          <p:cNvSpPr/>
          <p:nvPr/>
        </p:nvSpPr>
        <p:spPr>
          <a:xfrm>
            <a:off x="1500000" y="1800000"/>
            <a:ext cx="3000000" cy="3000000"/>
          </a:xfrm>
          <a:prstGeom prst="ellipse">
            <a:avLst/>
          </a:prstGeom>
          <a:solidFill>
            <a:srgbClr val="4472C4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11" name="Shape 11"/>
          <p:cNvSpPr/>
          <p:nvPr/>
        </p:nvSpPr>
        <p:spPr>
          <a:xfrm>
            <a:off x="3500000" y="1800000"/>
            <a:ext cx="3000000" cy="3000000"/>
          </a:xfrm>
          <a:prstGeom prst="ellipse">
            <a:avLst/>
          </a:prstGeom>
          <a:solidFill>
            <a:srgbClr val="ED7D31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000000"/>
                </a:solidFill>
              </a:rPr>
              <a:t>Passion</a:t>
            </a:r>
          </a:p>
        </p:txBody>
      </p:sp>
      <p:sp>
        <p:nvSpPr>
          <p:cNvPr id="12" name="Shape 12"/>
          <p:cNvSpPr/>
          <p:nvPr/>
        </p:nvSpPr>
        <p:spPr>
          <a:xfrm>
            <a:off x="2500000" y="3200000"/>
            <a:ext cx="3000000" cy="3000000"/>
          </a:xfrm>
          <a:prstGeom prst="ellipse">
            <a:avLst/>
          </a:prstGeom>
          <a:solidFill>
            <a:srgbClr val="70AD47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294" dirty="0">
                <a:solidFill>
                  <a:srgbClr val="000000"/>
                </a:solidFill>
              </a:rPr>
              <a:t>Market Need</a:t>
            </a:r>
          </a:p>
        </p:txBody>
      </p:sp>
      <p:sp>
        <p:nvSpPr>
          <p:cNvPr id="13" name="Shape 13"/>
          <p:cNvSpPr/>
          <p:nvPr/>
        </p:nvSpPr>
        <p:spPr>
          <a:xfrm>
            <a:off x="3200000" y="2800000"/>
            <a:ext cx="1600000" cy="800000"/>
          </a:xfrm>
          <a:prstGeom prst="ellipse">
            <a:avLst/>
          </a:prstGeom>
          <a:solidFill>
            <a:srgbClr val="FFFFFF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199" dirty="0">
                <a:solidFill>
                  <a:srgbClr val="000000"/>
                </a:solidFill>
              </a:rPr>
              <a:t>IKIGAI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Project Roadmap 2024-2025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300000" y="2000000"/>
          <a:ext cx="7500000" cy="1200000"/>
        </p:xfrm>
        <a:graphic>
          <a:graphicData uri="http://schemas.openxmlformats.org/drawingml/2006/table">
            <a:tbl>
              <a:tblPr firstRow="1" bandHVals="1"/>
              <a:tblGrid>
                <a:gridCol w="1500000"/>
                <a:gridCol w="1500000"/>
                <a:gridCol w="1500000"/>
                <a:gridCol w="1500000"/>
                <a:gridCol w="15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Q1 2024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Q2 2024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Q3 2024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Q4 2024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Q1 2025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1F497D"/>
                          </a:solidFill>
                        </a:rPr>
                        <a:t>Research
&amp; Planning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1F497D"/>
                          </a:solidFill>
                        </a:rPr>
                        <a:t>Design
Phase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6100"/>
                          </a:solidFill>
                        </a:rPr>
                        <a:t>Development
Sprint 1-3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65911"/>
                          </a:solidFill>
                        </a:rPr>
                        <a:t>Testing
&amp; QA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75623"/>
                          </a:solidFill>
                        </a:rPr>
                        <a:t>Launch
&amp; Support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✓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✓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ED7D31"/>
                          </a:solidFill>
                        </a:rP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F7F7F"/>
                          </a:solidFill>
                        </a:rP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F7F7F"/>
                          </a:solidFill>
                        </a:rP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Executive Dashboard - Q1 2024</a:t>
            </a:r>
          </a:p>
        </p:txBody>
      </p:sp>
      <p:sp>
        <p:nvSpPr>
          <p:cNvPr id="10" name="Shape 10"/>
          <p:cNvSpPr/>
          <p:nvPr/>
        </p:nvSpPr>
        <p:spPr>
          <a:xfrm>
            <a:off x="300000" y="1600000"/>
            <a:ext cx="2000000" cy="120000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t">
            <a:normAutofit/>
          </a:bodyPr>
          <a:lstStyle/>
          <a:p>
            <a:pPr algn="l"/>
            <a:r>
              <a:rPr lang="en-US" sz="1889" dirty="0">
                <a:solidFill>
                  <a:srgbClr val="FFFFFF"/>
                </a:solidFill>
              </a:rPr>
              <a:t>Revenue
$2.14M
+15% YoY</a:t>
            </a:r>
          </a:p>
        </p:txBody>
      </p:sp>
      <p:sp>
        <p:nvSpPr>
          <p:cNvPr id="11" name="Shape 11"/>
          <p:cNvSpPr/>
          <p:nvPr/>
        </p:nvSpPr>
        <p:spPr>
          <a:xfrm>
            <a:off x="2500000" y="1600000"/>
            <a:ext cx="2000000" cy="120000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t">
            <a:normAutofit/>
          </a:bodyPr>
          <a:lstStyle/>
          <a:p>
            <a:pPr algn="l"/>
            <a:r>
              <a:rPr lang="en-US" sz="1889" dirty="0">
                <a:solidFill>
                  <a:srgbClr val="000000"/>
                </a:solidFill>
              </a:rPr>
              <a:t>Customers
12,450
+22% YoY</a:t>
            </a:r>
          </a:p>
        </p:txBody>
      </p:sp>
      <p:sp>
        <p:nvSpPr>
          <p:cNvPr id="12" name="Shape 12"/>
          <p:cNvSpPr/>
          <p:nvPr/>
        </p:nvSpPr>
        <p:spPr>
          <a:xfrm>
            <a:off x="4700000" y="1600000"/>
            <a:ext cx="2000000" cy="120000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t">
            <a:normAutofit/>
          </a:bodyPr>
          <a:lstStyle/>
          <a:p>
            <a:pPr algn="l"/>
            <a:r>
              <a:rPr lang="en-US" sz="1889" dirty="0">
                <a:solidFill>
                  <a:srgbClr val="000000"/>
                </a:solidFill>
              </a:rPr>
              <a:t>NPS Score
72
+8 pts</a:t>
            </a:r>
          </a:p>
        </p:txBody>
      </p:sp>
      <p:sp>
        <p:nvSpPr>
          <p:cNvPr id="13" name="Shape 13"/>
          <p:cNvSpPr/>
          <p:nvPr/>
        </p:nvSpPr>
        <p:spPr>
          <a:xfrm>
            <a:off x="6900000" y="1600000"/>
            <a:ext cx="2000000" cy="1200000"/>
          </a:xfrm>
          <a:prstGeom prst="roundRect">
            <a:avLst/>
          </a:prstGeom>
          <a:solidFill>
            <a:srgbClr val="5B9BD5"/>
          </a:solidFill>
        </p:spPr>
        <p:txBody>
          <a:bodyPr wrap="square" rtlCol="0" anchor="t">
            <a:normAutofit/>
          </a:bodyPr>
          <a:lstStyle/>
          <a:p>
            <a:pPr algn="l"/>
            <a:r>
              <a:rPr lang="en-US" sz="1889" dirty="0">
                <a:solidFill>
                  <a:srgbClr val="000000"/>
                </a:solidFill>
              </a:rPr>
              <a:t>Retention
94%
+3% YoY</a:t>
            </a:r>
          </a:p>
        </p:txBody>
      </p:sp>
      <p:sp>
        <p:nvSpPr>
          <p:cNvPr id="14" name="Shape 14"/>
          <p:cNvSpPr/>
          <p:nvPr/>
        </p:nvSpPr>
        <p:spPr>
          <a:xfrm>
            <a:off x="1800000" y="2600000"/>
            <a:ext cx="300000" cy="300000"/>
          </a:xfrm>
          <a:prstGeom prst="ellipse">
            <a:avLst/>
          </a:prstGeom>
          <a:solidFill>
            <a:srgbClr val="70AD47"/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4000000" y="2600000"/>
            <a:ext cx="300000" cy="300000"/>
          </a:xfrm>
          <a:prstGeom prst="ellipse">
            <a:avLst/>
          </a:prstGeom>
          <a:solidFill>
            <a:srgbClr val="70AD47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6200000" y="2600000"/>
            <a:ext cx="300000" cy="300000"/>
          </a:xfrm>
          <a:prstGeom prst="ellipse">
            <a:avLst/>
          </a:prstGeom>
          <a:solidFill>
            <a:srgbClr val="FFC000"/>
          </a:solidFill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8400000" y="2600000"/>
            <a:ext cx="300000" cy="300000"/>
          </a:xfrm>
          <a:prstGeom prst="ellipse">
            <a:avLst/>
          </a:prstGeom>
          <a:solidFill>
            <a:srgbClr val="70AD47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Summary &amp; Next Steps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Completed: Research, Design, Initial Development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In Progress: Sprint 3 Development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Next: QA Testing Phase (Q4 2024)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Launch Target: Q1 2025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Key Risks: Resource constraints, Timeline pressure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Numbered List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rabicPeriod"/>
            </a:pPr>
            <a:r>
              <a:rPr lang="en-US" sz="2800" b="0" i="0" dirty="0"/>
              <a:t>First numbered item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Second numbered item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Third numbered item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Fourth numbered item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Lettered Lists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lphaLcPeriod"/>
            </a:pPr>
            <a:r>
              <a:rPr lang="en-US" sz="2800" b="0" i="0" dirty="0"/>
              <a:t>Option A - First choice</a:t>
            </a:r>
          </a:p>
          <a:p>
            <a:pPr lvl="0" marL="457200" indent="-457200">
              <a:buAutoNum type="alphaLcPeriod"/>
            </a:pPr>
            <a:r>
              <a:rPr lang="en-US" sz="2800" b="0" i="0" dirty="0"/>
              <a:t>Option B - Second choice</a:t>
            </a:r>
          </a:p>
          <a:p>
            <a:pPr lvl="0" marL="457200" indent="-457200">
              <a:buAutoNum type="alphaLcPeriod"/>
            </a:pPr>
            <a:r>
              <a:rPr lang="en-US" sz="2800" b="0" i="0" dirty="0"/>
              <a:t>Option C - Third choice</a:t>
            </a:r>
          </a:p>
          <a:p>
            <a:pPr lvl="0" marL="457200" indent="-457200">
              <a:buAutoNum type="alphaLcPeriod"/>
            </a:pPr>
            <a:r>
              <a:rPr lang="en-US" sz="2800" b="0" i="0" dirty="0"/>
              <a:t>Option D - Fourth choice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Roman Numerals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romanUcPeriod"/>
            </a:pPr>
            <a:r>
              <a:rPr lang="en-US" sz="2800" b="0" i="0" dirty="0"/>
              <a:t>Chapter I - Introduction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II - Background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III - Methodology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IV - Results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V - Conclusion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Custom Characters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★"/>
            </a:pPr>
            <a:r>
              <a:rPr lang="en-US" sz="2800" b="0" i="0" dirty="0"/>
              <a:t>Star bullet point</a:t>
            </a:r>
          </a:p>
          <a:p>
            <a:pPr lvl="0" marL="457200" indent="-457200">
              <a:buChar char="→"/>
            </a:pPr>
            <a:r>
              <a:rPr lang="en-US" sz="2800" b="0" i="0" dirty="0"/>
              <a:t>Arrow bullet point</a:t>
            </a:r>
          </a:p>
          <a:p>
            <a:pPr lvl="0" marL="457200" indent="-457200">
              <a:buChar char="✓"/>
            </a:pPr>
            <a:r>
              <a:rPr lang="en-US" sz="2800" b="0" i="0" dirty="0"/>
              <a:t>Check bullet point</a:t>
            </a:r>
          </a:p>
          <a:p>
            <a:pPr lvl="0" marL="457200" indent="-457200">
              <a:buChar char="◆"/>
            </a:pPr>
            <a:r>
              <a:rPr lang="en-US" sz="2800" b="0" i="0" dirty="0"/>
              <a:t>Diamond bullet point</a:t>
            </a:r>
          </a:p>
          <a:p>
            <a:pPr lvl="0" marL="457200" indent="-457200">
              <a:buChar char="♥"/>
            </a:pPr>
            <a:r>
              <a:rPr lang="en-US" sz="2800" b="0" i="0" dirty="0"/>
              <a:t>Heart bullet point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Hierarchical Lists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Main Topic 1</a:t>
            </a:r>
          </a:p>
          <a:p>
            <a:pPr lvl="1" marL="1371600" indent="-914400">
              <a:buChar char="•"/>
            </a:pPr>
            <a:r>
              <a:rPr lang="en-US" sz="2400" b="0" i="0" dirty="0"/>
              <a:t>Supporting detail A</a:t>
            </a:r>
          </a:p>
          <a:p>
            <a:pPr lvl="1" marL="1371600" indent="-914400">
              <a:buChar char="•"/>
            </a:pPr>
            <a:r>
              <a:rPr lang="en-US" sz="2400" b="0" i="0" dirty="0"/>
              <a:t>Supporting detail B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Main Topic 2</a:t>
            </a:r>
          </a:p>
          <a:p>
            <a:pPr lvl="1" marL="1371600" indent="-914400">
              <a:buChar char="•"/>
            </a:pPr>
            <a:r>
              <a:rPr lang="en-US" sz="2400" b="0" i="0" dirty="0"/>
              <a:t>Supporting detail C</a:t>
            </a:r>
          </a:p>
          <a:p>
            <a:pPr lvl="1" marL="1371600" indent="-914400">
              <a:buChar char="•"/>
            </a:pPr>
            <a:r>
              <a:rPr lang="en-US" sz="2400" b="0" i="0" dirty="0"/>
              <a:t>Supporting detail D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Main Topic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Text Enhancements - New Formatting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 strike="sngStrike"/>
              <a:t>Strikethrough: This text is crossed out</a:t>
            </a:r>
          </a:p>
          <a:p>
            <a:pPr lvl="0" marL="457200" indent="-457200">
              <a:buChar char="•"/>
            </a:pPr>
            <a:r>
              <a:rPr lang="en-US" sz="2400" b="0" i="0" dirty="0">
                <a:highlight>
                  <a:srgbClr val="FFFF00"/>
                </a:highlight>
              </a:rPr>
              <a:t>Highlight: Yellow background for emphasis</a:t>
            </a:r>
          </a:p>
          <a:p>
            <a:pPr lvl="0" marL="457200" indent="-457200">
              <a:buChar char="•"/>
            </a:pPr>
            <a:r>
              <a:rPr lang="en-US" sz="2400" b="0" i="0" dirty="0" baseline="-25000"/>
              <a:t>Subscript: H₂O - for chemical formulas</a:t>
            </a:r>
          </a:p>
          <a:p>
            <a:pPr lvl="0" marL="457200" indent="-457200">
              <a:buChar char="•"/>
            </a:pPr>
            <a:r>
              <a:rPr lang="en-US" sz="2400" b="0" i="0" dirty="0" baseline="30000"/>
              <a:t>Superscript: x² - for math expressions</a:t>
            </a:r>
          </a:p>
          <a:p>
            <a:pPr lvl="0" marL="457200" indent="-457200">
              <a:buChar char="•"/>
            </a:pPr>
            <a:r>
              <a:rPr lang="en-US" sz="2400" b="1" i="0" dirty="0">
                <a:solidFill>
                  <a:srgbClr val="FF0000"/>
                </a:solidFill>
              </a:rPr>
              <a:t>Combined: Bold + Red color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Font Size Presets - Each line different size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3600" b="0" i="0" dirty="0"/>
              <a:t>LARGE: 36pt - Extra large text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HEADING: 28pt - Section headers</a:t>
            </a:r>
          </a:p>
          <a:p>
            <a:pPr lvl="0" marL="457200" indent="-457200">
              <a:buChar char="•"/>
            </a:pPr>
            <a:r>
              <a:rPr lang="en-US" sz="1800" b="0" i="0" dirty="0"/>
              <a:t>BODY: 18pt - Regular content</a:t>
            </a:r>
          </a:p>
          <a:p>
            <a:pPr lvl="0" marL="457200" indent="-457200">
              <a:buChar char="•"/>
            </a:pPr>
            <a:r>
              <a:rPr lang="en-US" sz="1400" b="0" i="0" dirty="0"/>
              <a:t>SMALL: 14pt - Smaller text</a:t>
            </a:r>
          </a:p>
          <a:p>
            <a:pPr lvl="0" marL="457200" indent="-457200">
              <a:buChar char="•"/>
            </a:pPr>
            <a:r>
              <a:rPr lang="en-US" sz="1200" b="0" i="0" dirty="0"/>
              <a:t>CAPTION: 12pt - Captions and notes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Theme Color Palettes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1800000" cy="800000"/>
          </a:xfrm>
          <a:prstGeom prst="rect">
            <a:avLst/>
          </a:prstGeom>
          <a:solidFill>
            <a:srgbClr val="1565C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>
                <a:solidFill>
                  <a:srgbClr val="FFFFFF"/>
                </a:solidFill>
              </a:rPr>
              <a:t>Corporate</a:t>
            </a:r>
          </a:p>
        </p:txBody>
      </p:sp>
      <p:sp>
        <p:nvSpPr>
          <p:cNvPr id="11" name="Shape 11"/>
          <p:cNvSpPr/>
          <p:nvPr/>
        </p:nvSpPr>
        <p:spPr>
          <a:xfrm>
            <a:off x="2500000" y="1600000"/>
            <a:ext cx="1800000" cy="800000"/>
          </a:xfrm>
          <a:prstGeom prst="rect">
            <a:avLst/>
          </a:prstGeom>
          <a:solidFill>
            <a:srgbClr val="212121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Modern</a:t>
            </a:r>
          </a:p>
        </p:txBody>
      </p:sp>
      <p:sp>
        <p:nvSpPr>
          <p:cNvPr id="12" name="Shape 12"/>
          <p:cNvSpPr/>
          <p:nvPr/>
        </p:nvSpPr>
        <p:spPr>
          <a:xfrm>
            <a:off x="4500000" y="1600000"/>
            <a:ext cx="1800000" cy="800000"/>
          </a:xfrm>
          <a:prstGeom prst="rect">
            <a:avLst/>
          </a:prstGeom>
          <a:solidFill>
            <a:srgbClr val="E91E63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049" dirty="0">
                <a:solidFill>
                  <a:srgbClr val="FFFFFF"/>
                </a:solidFill>
              </a:rPr>
              <a:t>Vibrant</a:t>
            </a:r>
          </a:p>
        </p:txBody>
      </p:sp>
      <p:sp>
        <p:nvSpPr>
          <p:cNvPr id="13" name="Shape 13"/>
          <p:cNvSpPr/>
          <p:nvPr/>
        </p:nvSpPr>
        <p:spPr>
          <a:xfrm>
            <a:off x="6500000" y="1600000"/>
            <a:ext cx="1800000" cy="800000"/>
          </a:xfrm>
          <a:prstGeom prst="rect">
            <a:avLst/>
          </a:prstGeom>
          <a:solidFill>
            <a:srgbClr val="BB86FC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000000"/>
                </a:solidFill>
              </a:rPr>
              <a:t>Dark</a:t>
            </a:r>
          </a:p>
        </p:txBody>
      </p:sp>
      <p:sp>
        <p:nvSpPr>
          <p:cNvPr id="14" name="Shape 14"/>
          <p:cNvSpPr/>
          <p:nvPr/>
        </p:nvSpPr>
        <p:spPr>
          <a:xfrm>
            <a:off x="500000" y="2700000"/>
            <a:ext cx="1800000" cy="800000"/>
          </a:xfrm>
          <a:prstGeom prst="rect">
            <a:avLst/>
          </a:prstGeom>
          <a:solidFill>
            <a:srgbClr val="2E7D32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Nature</a:t>
            </a:r>
          </a:p>
        </p:txBody>
      </p:sp>
      <p:sp>
        <p:nvSpPr>
          <p:cNvPr id="15" name="Shape 15"/>
          <p:cNvSpPr/>
          <p:nvPr/>
        </p:nvSpPr>
        <p:spPr>
          <a:xfrm>
            <a:off x="2500000" y="2700000"/>
            <a:ext cx="1800000" cy="800000"/>
          </a:xfrm>
          <a:prstGeom prst="rect">
            <a:avLst/>
          </a:prstGeom>
          <a:solidFill>
            <a:srgbClr val="0D47A1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Tech</a:t>
            </a:r>
          </a:p>
        </p:txBody>
      </p:sp>
      <p:sp>
        <p:nvSpPr>
          <p:cNvPr id="16" name="Shape 16"/>
          <p:cNvSpPr/>
          <p:nvPr/>
        </p:nvSpPr>
        <p:spPr>
          <a:xfrm>
            <a:off x="4500000" y="2700000"/>
            <a:ext cx="1800000" cy="800000"/>
          </a:xfrm>
          <a:prstGeom prst="rect">
            <a:avLst/>
          </a:prstGeom>
          <a:solidFill>
            <a:srgbClr val="0043CE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Carbon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Material &amp; Carbon Design Colors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1200000" cy="600000"/>
          </a:xfrm>
          <a:prstGeom prst="rect">
            <a:avLst/>
          </a:prstGeom>
          <a:solidFill>
            <a:srgbClr val="F44336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779" dirty="0">
                <a:solidFill>
                  <a:srgbClr val="FFFFFF"/>
                </a:solidFill>
              </a:rPr>
              <a:t>M-Red</a:t>
            </a:r>
          </a:p>
        </p:txBody>
      </p:sp>
      <p:sp>
        <p:nvSpPr>
          <p:cNvPr id="11" name="Shape 11"/>
          <p:cNvSpPr/>
          <p:nvPr/>
        </p:nvSpPr>
        <p:spPr>
          <a:xfrm>
            <a:off x="1900000" y="1600000"/>
            <a:ext cx="1200000" cy="600000"/>
          </a:xfrm>
          <a:prstGeom prst="rect">
            <a:avLst/>
          </a:prstGeom>
          <a:solidFill>
            <a:srgbClr val="2196F3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>
                <a:solidFill>
                  <a:srgbClr val="FFFFFF"/>
                </a:solidFill>
              </a:rPr>
              <a:t>M-Blue</a:t>
            </a:r>
          </a:p>
        </p:txBody>
      </p:sp>
      <p:sp>
        <p:nvSpPr>
          <p:cNvPr id="12" name="Shape 12"/>
          <p:cNvSpPr/>
          <p:nvPr/>
        </p:nvSpPr>
        <p:spPr>
          <a:xfrm>
            <a:off x="3300000" y="1600000"/>
            <a:ext cx="1200000" cy="600000"/>
          </a:xfrm>
          <a:prstGeom prst="rect">
            <a:avLst/>
          </a:prstGeom>
          <a:solidFill>
            <a:srgbClr val="4CAF5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699" dirty="0">
                <a:solidFill>
                  <a:srgbClr val="000000"/>
                </a:solidFill>
              </a:rPr>
              <a:t>M-Green</a:t>
            </a:r>
          </a:p>
        </p:txBody>
      </p:sp>
      <p:sp>
        <p:nvSpPr>
          <p:cNvPr id="13" name="Shape 13"/>
          <p:cNvSpPr/>
          <p:nvPr/>
        </p:nvSpPr>
        <p:spPr>
          <a:xfrm>
            <a:off x="4700000" y="1600000"/>
            <a:ext cx="1200000" cy="600000"/>
          </a:xfrm>
          <a:prstGeom prst="rect">
            <a:avLst/>
          </a:prstGeom>
          <a:solidFill>
            <a:srgbClr val="FF980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362" dirty="0">
                <a:solidFill>
                  <a:srgbClr val="000000"/>
                </a:solidFill>
              </a:rPr>
              <a:t>M-Orange</a:t>
            </a:r>
          </a:p>
        </p:txBody>
      </p:sp>
      <p:sp>
        <p:nvSpPr>
          <p:cNvPr id="14" name="Shape 14"/>
          <p:cNvSpPr/>
          <p:nvPr/>
        </p:nvSpPr>
        <p:spPr>
          <a:xfrm>
            <a:off x="6100000" y="1600000"/>
            <a:ext cx="1200000" cy="600000"/>
          </a:xfrm>
          <a:prstGeom prst="rect">
            <a:avLst/>
          </a:prstGeom>
          <a:solidFill>
            <a:srgbClr val="9C27B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362" dirty="0">
                <a:solidFill>
                  <a:srgbClr val="FFFFFF"/>
                </a:solidFill>
              </a:rPr>
              <a:t>M-Purple</a:t>
            </a:r>
          </a:p>
        </p:txBody>
      </p:sp>
      <p:sp>
        <p:nvSpPr>
          <p:cNvPr id="15" name="Shape 15"/>
          <p:cNvSpPr/>
          <p:nvPr/>
        </p:nvSpPr>
        <p:spPr>
          <a:xfrm>
            <a:off x="500000" y="2500000"/>
            <a:ext cx="1200000" cy="600000"/>
          </a:xfrm>
          <a:prstGeom prst="rect">
            <a:avLst/>
          </a:prstGeom>
          <a:solidFill>
            <a:srgbClr val="0043CE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>
                <a:solidFill>
                  <a:srgbClr val="FFFFFF"/>
                </a:solidFill>
              </a:rPr>
              <a:t>C-Blue</a:t>
            </a:r>
          </a:p>
        </p:txBody>
      </p:sp>
      <p:sp>
        <p:nvSpPr>
          <p:cNvPr id="16" name="Shape 16"/>
          <p:cNvSpPr/>
          <p:nvPr/>
        </p:nvSpPr>
        <p:spPr>
          <a:xfrm>
            <a:off x="1900000" y="2500000"/>
            <a:ext cx="1200000" cy="600000"/>
          </a:xfrm>
          <a:prstGeom prst="rect">
            <a:avLst/>
          </a:prstGeom>
          <a:solidFill>
            <a:srgbClr val="24A148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699" dirty="0">
                <a:solidFill>
                  <a:srgbClr val="FFFFFF"/>
                </a:solidFill>
              </a:rPr>
              <a:t>C-Green</a:t>
            </a:r>
          </a:p>
        </p:txBody>
      </p:sp>
      <p:sp>
        <p:nvSpPr>
          <p:cNvPr id="17" name="Shape 17"/>
          <p:cNvSpPr/>
          <p:nvPr/>
        </p:nvSpPr>
        <p:spPr>
          <a:xfrm>
            <a:off x="3300000" y="2500000"/>
            <a:ext cx="1200000" cy="600000"/>
          </a:xfrm>
          <a:prstGeom prst="rect">
            <a:avLst/>
          </a:prstGeom>
          <a:solidFill>
            <a:srgbClr val="DA1E28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779" dirty="0">
                <a:solidFill>
                  <a:srgbClr val="FFFFFF"/>
                </a:solidFill>
              </a:rPr>
              <a:t>C-Red</a:t>
            </a:r>
          </a:p>
        </p:txBody>
      </p:sp>
      <p:sp>
        <p:nvSpPr>
          <p:cNvPr id="18" name="Shape 18"/>
          <p:cNvSpPr/>
          <p:nvPr/>
        </p:nvSpPr>
        <p:spPr>
          <a:xfrm>
            <a:off x="4700000" y="2500000"/>
            <a:ext cx="1200000" cy="600000"/>
          </a:xfrm>
          <a:prstGeom prst="rect">
            <a:avLst/>
          </a:prstGeom>
          <a:solidFill>
            <a:srgbClr val="8A3FFC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362" dirty="0">
                <a:solidFill>
                  <a:srgbClr val="FFFFFF"/>
                </a:solidFill>
              </a:rPr>
              <a:t>C-Purple</a:t>
            </a:r>
          </a:p>
        </p:txBody>
      </p:sp>
      <p:sp>
        <p:nvSpPr>
          <p:cNvPr id="19" name="Shape 19"/>
          <p:cNvSpPr/>
          <p:nvPr/>
        </p:nvSpPr>
        <p:spPr>
          <a:xfrm>
            <a:off x="6100000" y="2500000"/>
            <a:ext cx="1200000" cy="600000"/>
          </a:xfrm>
          <a:prstGeom prst="rect">
            <a:avLst/>
          </a:prstGeom>
          <a:solidFill>
            <a:srgbClr val="161616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>
                <a:solidFill>
                  <a:srgbClr val="FFFFFF"/>
                </a:solidFill>
              </a:rPr>
              <a:t>C-Gray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Image Loading - New Methods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Image::new(path) - Load from file path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Image::from_base64(data) - Load from base64 string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Image::from_bytes(data) - Load from raw bytes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ImageBuilder for fluent API configuration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Built-in base64 decoder (no external deps)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New Features in v0.2.1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rabicPeriod"/>
            </a:pPr>
            <a:r>
              <a:rPr lang="en-US" sz="2400" b="0" i="0" dirty="0"/>
              <a:t>BulletStyle: Number, Letter, Roman, Custom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TextFormat: Strikethrough, Highlight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TextFormat: Subscript, Superscript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Font size presets in prelude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Image::from_base64 and from_bytes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Theme color palettes (7 themes)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Material &amp; Carbon Design colors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34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PPTX-RS Element Showcase</dc:title>
  <dc:creator>pptx-rs</dc:creator>
  <cp:lastModifiedBy>pptx-rs</cp:lastModifiedBy>
  <cp:revision>1</cp:revision>
  <dcterms:created xsi:type="dcterms:W3CDTF">2025-12-25T19:01:30Z</dcterms:created>
  <dcterms:modified xsi:type="dcterms:W3CDTF">2025-12-25T19:01:30Z</dcterms:modified>
</cp:coreProperties>
</file>