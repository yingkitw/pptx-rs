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    <Relationship Id="rId15" Type="http://schemas.openxmlformats.org/officeDocument/2006/relationships/slide" Target="slides/slide13.xml"/>
    <Relationship Id="rId16" Type="http://schemas.openxmlformats.org/officeDocument/2006/relationships/slide" Target="slides/slide14.xml"/>
    <Relationship Id="rId17" Type="http://schemas.openxmlformats.org/officeDocument/2006/relationships/slide" Target="slides/slide15.xml"/>
    <Relationship Id="rId18" Type="http://schemas.openxmlformats.org/officeDocument/2006/relationships/slide" Target="slides/slide16.xml"/>
    <Relationship Id="rId19" Type="http://schemas.openxmlformats.org/officeDocument/2006/relationships/slide" Target="slides/slide17.xml"/>
    <Relationship Id="rId20" Type="http://schemas.openxmlformats.org/officeDocument/2006/relationships/slide" Target="slides/slide18.xml"/>
    <Relationship Id="rId21" Type="http://schemas.openxmlformats.org/officeDocument/2006/relationships/slide" Target="slides/slide19.xml"/>
    <Relationship Id="rId22" Type="http://schemas.openxmlformats.org/officeDocument/2006/relationships/slide" Target="slides/slide20.xml"/>
    <Relationship Id="rId23" Type="http://schemas.openxmlformats.org/officeDocument/2006/relationships/slide" Target="slides/slide21.xml"/>
    <Relationship Id="rId24" Type="http://schemas.openxmlformats.org/officeDocument/2006/relationships/slide" Target="slides/slide22.xml"/>
    <Relationship Id="rId25" Type="http://schemas.openxmlformats.org/officeDocument/2006/relationships/slide" Target="slides/slide23.xml"/>
    <Relationship Id="rId26" Type="http://schemas.openxmlformats.org/officeDocument/2006/relationships/slide" Target="slides/slide24.xml"/>
    <Relationship Id="rId27" Type="http://schemas.openxmlformats.org/officeDocument/2006/relationships/slide" Target="slides/slide25.xml"/>
    <Relationship Id="rId2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4" name="Notes Placeholder 3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5.xml"/>
<Relationship Id="rId2" Type="http://schemas.openxmlformats.org/officeDocument/2006/relationships/notesMaster" Target="../notesMasters/notesMaster1.xml"/>
</Relationships>
</file>

<file path=ppt/notesSlides/_rels/notesSlide2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2.xml"/>
<Relationship Id="rId2" Type="http://schemas.openxmlformats.org/officeDocument/2006/relationships/notesMaster" Target="../notesMasters/notesMaster1.xml"/>
</Relationships>
</file>

<file path=ppt/notesSlides/_rels/notesSlide2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4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speaker note! It will appear in the notes section of PowerPoint, not on the slide itself. Use blockquotes for presenter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1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Q2 growth rate - it was our best quarter!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05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explain the table data during the presentation!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6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open for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E4A5D7-2C3F-4A8B-9E1D-000000000018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Welcome to MD2PPT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A comprehensive demonstration of Markdown to PowerPoint conversion</a:t>
            </a:r>
          </a:p>
          <a:p>
            <a:pPr lvl="0"/>
            <a:r>
              <a:rPr lang="en-US" sz="2800" b="0" i="0" dirty="0"/>
              <a:t>Convert markdown files to professional presentations</a:t>
            </a:r>
          </a:p>
          <a:p>
            <a:pPr lvl="0"/>
            <a:r>
              <a:rPr lang="en-US" sz="2800" b="0" i="0" dirty="0"/>
              <a:t>Support for tables, code, diagrams, and more</a:t>
            </a:r>
          </a:p>
          <a:p>
            <a:pPr lvl="0"/>
            <a:r>
              <a:rPr lang="en-US" sz="2800" b="0" i="0" dirty="0"/>
              <a:t>Simple CLI: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pptcli md2ppt slides.md output.pptx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Formatting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Markdown supports various text styles:</a:t>
            </a:r>
          </a:p>
          <a:p>
            <a:pPr lvl="0"/>
            <a:r>
              <a:rPr lang="en-US" sz="2800" b="1" i="0" dirty="0"/>
              <a:t>Bold text</a:t>
            </a:r>
            <a:r>
              <a:rPr lang="en-US" sz="2800" b="0" i="0" dirty="0"/>
              <a:t> for emphasis</a:t>
            </a:r>
          </a:p>
          <a:p>
            <a:pPr lvl="0"/>
            <a:r>
              <a:rPr lang="en-US" sz="2800" b="0" i="1" dirty="0"/>
              <a:t>Italic text</a:t>
            </a:r>
            <a:r>
              <a:rPr lang="en-US" sz="2800" b="0" i="0" dirty="0"/>
              <a:t> for subtle emphasis</a:t>
            </a:r>
          </a:p>
          <a:p>
            <a:pPr lvl="0"/>
            <a:r>
              <a:rPr lang="en-US" sz="2800" b="1" i="1" dirty="0"/>
              <a:t>Bold and italic</a:t>
            </a:r>
            <a:r>
              <a:rPr lang="en-US" sz="2800" b="0" i="0" dirty="0"/>
              <a:t> combined</a:t>
            </a:r>
          </a:p>
          <a:p>
            <a:pPr lvl="0"/>
            <a:r>
              <a:rPr lang="en-US" sz="2800" dirty="0">
                <a:latin typeface="Consolas"/>
                <a:solidFill>
                  <a:srgbClr val="C7254E"/>
                </a:solidFill>
              </a:rPr>
              <a:t>inline code</a:t>
            </a:r>
            <a:r>
              <a:rPr lang="en-US" sz="2800" b="0" i="0" dirty="0"/>
              <a:t> for technical terms</a:t>
            </a:r>
          </a:p>
          <a:p>
            <a:pPr lvl="0"/>
            <a:r>
              <a:rPr lang="en-US" sz="2800" b="0" i="0" dirty="0"/>
              <a:t>Regular text for normal content</a:t>
            </a:r>
          </a:p>
          <a:p>
            <a:pPr lvl="0"/>
            <a:r>
              <a:rPr lang="en-US" sz="2800" b="1" i="0" dirty="0"/>
              <a:t>Subheadings Become Bold Bullets</a:t>
            </a:r>
          </a:p>
          <a:p>
            <a:pPr lvl="0"/>
            <a:r>
              <a:rPr lang="en-US" sz="2800" b="0" i="0" dirty="0"/>
              <a:t>When you use ## or ### headings within a slide, they become bold bullet points. This is useful for organizing content hierarchically.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Bullet Points &amp; Lists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Different bullet styles all work:</a:t>
            </a:r>
          </a:p>
          <a:p>
            <a:pPr lvl="0"/>
            <a:r>
              <a:rPr lang="en-US" sz="2800" b="0" i="0" dirty="0"/>
              <a:t>Dash bullet point</a:t>
            </a:r>
          </a:p>
          <a:p>
            <a:pPr lvl="0"/>
            <a:r>
              <a:rPr lang="en-US" sz="2800" b="0" i="0" dirty="0"/>
              <a:t>Another dash point</a:t>
            </a:r>
          </a:p>
          <a:p>
            <a:pPr lvl="0"/>
            <a:r>
              <a:rPr lang="en-US" sz="2800" b="0" i="0" dirty="0"/>
              <a:t>Asterisk bullet point</a:t>
            </a:r>
          </a:p>
          <a:p>
            <a:pPr lvl="0"/>
            <a:r>
              <a:rPr lang="en-US" sz="2800" b="0" i="0" dirty="0"/>
              <a:t>Another asterisk point</a:t>
            </a:r>
          </a:p>
          <a:p>
            <a:pPr lvl="0"/>
            <a:r>
              <a:rPr lang="en-US" sz="2800" b="0" i="0" dirty="0"/>
              <a:t>Plus bullet point</a:t>
            </a:r>
          </a:p>
          <a:p>
            <a:pPr lvl="0"/>
            <a:r>
              <a:rPr lang="en-US" sz="2800" b="0" i="0" dirty="0"/>
              <a:t>Another plus point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Tables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Mermaid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Code Blocks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Speaker 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Placeholder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Sales Report Table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2000000"/>
        </p:xfrm>
        <a:graphic>
          <a:graphicData uri="http://schemas.openxmlformats.org/drawingml/2006/table">
            <a:tbl>
              <a:tblPr firstRow="1" bandHVals="1"/>
              <a:tblGrid>
                <a:gridCol w="2000000"/>
                <a:gridCol w="2000000"/>
                <a:gridCol w="2000000"/>
                <a:gridCol w="2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Quarter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Revenue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Growth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$1.0M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$1.3M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$1.6M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$2.0M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Code Examples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Here's a Rust code example: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fn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main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{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message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Hello, PowerPoint!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println!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CB4B16"/>
                </a:solidFill>
              </a:rPr>
              <a:t>{}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message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for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i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in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C71C4"/>
                </a:solidFill>
              </a:rPr>
              <a:t>1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..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6C71C4"/>
                </a:solidFill>
              </a:rPr>
              <a:t>5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{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println!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Slide </a:t>
            </a:r>
            <a:r>
              <a:rPr lang="en-US" sz="1400" dirty="0">
                <a:latin typeface="Consolas"/>
                <a:solidFill>
                  <a:srgbClr val="CB4B16"/>
                </a:solidFill>
              </a:rPr>
              <a:t>{}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i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}</a:t>
            </a:r>
          </a:p>
          <a:p>
            <a:pPr algn="l"/>
            <a:r>
              <a:rPr lang="en-US" sz="1400" dirty="0">
                <a:latin typeface="Consolas"/>
                <a:solidFill>
                  <a:srgbClr val="657B83"/>
                </a:solidFill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Python Code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859900"/>
                </a:solidFill>
              </a:rPr>
              <a:t>def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create_presentation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: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"""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Create a PowerPoint presentation.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"""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Presentation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for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slide_content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in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: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.</a:t>
            </a:r>
            <a:r>
              <a:rPr lang="en-US" sz="1400" dirty="0">
                <a:latin typeface="Consolas"/>
                <a:solidFill>
                  <a:srgbClr val="B58900"/>
                </a:solidFill>
              </a:rPr>
              <a:t>add_slide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.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slide_content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[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'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'</a:t>
            </a:r>
            <a:r>
              <a:rPr lang="en-US" sz="1400" dirty="0">
                <a:latin typeface="Consolas"/>
                <a:solidFill>
                  <a:srgbClr val="268BD2"/>
                </a:solidFill>
              </a:rPr>
              <a:t>]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    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  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return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pptx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#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 Usage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slides = [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'Introduction'},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'Main Content'},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    {'title': 'Conclusion'}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]</a:t>
            </a:r>
          </a:p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create_presentation("Demo", slides)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System Architecture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800000" cy="2200000"/>
          </a:xfrm>
          <a:prstGeom prst="roundRect">
            <a:avLst/>
          </a:prstGeom>
          <a:solidFill>
            <a:srgbClr val="E3F2FD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Client</a:t>
            </a:r>
          </a:p>
        </p:txBody>
      </p:sp>
      <p:sp>
        <p:nvSpPr>
          <p:cNvPr id="11" name="Shape 11"/>
          <p:cNvSpPr/>
          <p:nvPr/>
        </p:nvSpPr>
        <p:spPr>
          <a:xfrm>
            <a:off x="7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Web Browser</a:t>
            </a:r>
          </a:p>
        </p:txBody>
      </p:sp>
      <p:sp>
        <p:nvSpPr>
          <p:cNvPr id="12" name="Shape 12"/>
          <p:cNvSpPr/>
          <p:nvPr/>
        </p:nvSpPr>
        <p:spPr>
          <a:xfrm>
            <a:off x="7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Mobile App</a:t>
            </a:r>
          </a:p>
        </p:txBody>
      </p:sp>
      <p:sp>
        <p:nvSpPr>
          <p:cNvPr id="13" name="Shape 13"/>
          <p:cNvSpPr/>
          <p:nvPr/>
        </p:nvSpPr>
        <p:spPr>
          <a:xfrm>
            <a:off x="2900000" y="1600000"/>
            <a:ext cx="1800000" cy="3100000"/>
          </a:xfrm>
          <a:prstGeom prst="roundRect">
            <a:avLst/>
          </a:prstGeom>
          <a:solidFill>
            <a:srgbClr val="F3E5F5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Backend</a:t>
            </a:r>
          </a:p>
        </p:txBody>
      </p:sp>
      <p:sp>
        <p:nvSpPr>
          <p:cNvPr id="14" name="Shape 14"/>
          <p:cNvSpPr/>
          <p:nvPr/>
        </p:nvSpPr>
        <p:spPr>
          <a:xfrm>
            <a:off x="31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API Gateway</a:t>
            </a:r>
          </a:p>
        </p:txBody>
      </p:sp>
      <p:sp>
        <p:nvSpPr>
          <p:cNvPr id="15" name="Shape 15"/>
          <p:cNvSpPr/>
          <p:nvPr/>
        </p:nvSpPr>
        <p:spPr>
          <a:xfrm>
            <a:off x="31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Auth Service</a:t>
            </a:r>
          </a:p>
        </p:txBody>
      </p:sp>
      <p:sp>
        <p:nvSpPr>
          <p:cNvPr id="16" name="Shape 16"/>
          <p:cNvSpPr/>
          <p:nvPr/>
        </p:nvSpPr>
        <p:spPr>
          <a:xfrm>
            <a:off x="3100000" y="37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Data Service</a:t>
            </a:r>
          </a:p>
        </p:txBody>
      </p:sp>
      <p:sp>
        <p:nvSpPr>
          <p:cNvPr id="17" name="Shape 17"/>
          <p:cNvSpPr/>
          <p:nvPr/>
        </p:nvSpPr>
        <p:spPr>
          <a:xfrm>
            <a:off x="5300000" y="1600000"/>
            <a:ext cx="1800000" cy="2200000"/>
          </a:xfrm>
          <a:prstGeom prst="roundRect">
            <a:avLst/>
          </a:prstGeom>
          <a:solidFill>
            <a:srgbClr val="E8F5E9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Storage</a:t>
            </a:r>
          </a:p>
        </p:txBody>
      </p:sp>
      <p:sp>
        <p:nvSpPr>
          <p:cNvPr id="18" name="Shape 18"/>
          <p:cNvSpPr/>
          <p:nvPr/>
        </p:nvSpPr>
        <p:spPr>
          <a:xfrm>
            <a:off x="5500000" y="19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(PostgreSQL)</a:t>
            </a:r>
          </a:p>
        </p:txBody>
      </p:sp>
      <p:sp>
        <p:nvSpPr>
          <p:cNvPr id="19" name="Shape 19"/>
          <p:cNvSpPr/>
          <p:nvPr/>
        </p:nvSpPr>
        <p:spPr>
          <a:xfrm>
            <a:off x="5500000" y="2800000"/>
            <a:ext cx="1400000" cy="500000"/>
          </a:xfrm>
          <a:prstGeom prst="rect">
            <a:avLst/>
          </a:prstGeom>
          <a:solidFill>
            <a:srgbClr val="FFFFFF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(Redis Cache)</a:t>
            </a:r>
          </a:p>
        </p:txBody>
      </p:sp>
      <p:cxnSp>
        <p:nvCxnSpPr>
          <p:cNvPr id="60" name="Connector 60"/>
          <p:cNvCxnSpPr>
</p:cNvCxnSpPr>
          <p:nvPr/>
        </p:nvCxnSpPr>
        <p:spPr>
          <a:xfrm flipV="1">
            <a:off x="1400000" y="1900000"/>
            <a:ext cx="2400000" cy="5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1" name="Connector 61"/>
          <p:cNvCxnSpPr>
</p:cNvCxnSpPr>
          <p:nvPr/>
        </p:nvCxnSpPr>
        <p:spPr>
          <a:xfrm flipV="1">
            <a:off x="1400000" y="19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2" name="Connector 62"/>
          <p:cNvCxnSpPr>
</p:cNvCxnSpPr>
          <p:nvPr/>
        </p:nvCxnSpPr>
        <p:spPr>
          <a:xfrm>
            <a:off x="3800000" y="2400000"/>
            <a:ext cx="0" cy="400000"/>
          </a:xfrm>
          <a:prstGeom prst="straightConnector1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3" name="Connector 63"/>
          <p:cNvCxnSpPr>
</p:cNvCxnSpPr>
          <p:nvPr/>
        </p:nvCxnSpPr>
        <p:spPr>
          <a:xfrm>
            <a:off x="3800000" y="2400000"/>
            <a:ext cx="0" cy="1300000"/>
          </a:xfrm>
          <a:prstGeom prst="straightConnector1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4" name="Connector 64"/>
          <p:cNvCxnSpPr>
</p:cNvCxnSpPr>
          <p:nvPr/>
        </p:nvCxnSpPr>
        <p:spPr>
          <a:xfrm flipV="1">
            <a:off x="3800000" y="19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5" name="Connector 65"/>
          <p:cNvCxnSpPr>
</p:cNvCxnSpPr>
          <p:nvPr/>
        </p:nvCxnSpPr>
        <p:spPr>
          <a:xfrm flipV="1">
            <a:off x="3800000" y="1900000"/>
            <a:ext cx="2400000" cy="23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  <p:cxnSp>
        <p:nvCxnSpPr>
          <p:cNvPr id="66" name="Connector 66"/>
          <p:cNvCxnSpPr>
</p:cNvCxnSpPr>
          <p:nvPr/>
        </p:nvCxnSpPr>
        <p:spPr>
          <a:xfrm flipV="1">
            <a:off x="3800000" y="2800000"/>
            <a:ext cx="2400000" cy="1400000"/>
          </a:xfrm>
          <a:prstGeom prst="bentConnector3">
            <a:avLst/>
          </a:prstGeom>
          <a:ln w="19050">
            <a:solidFill>
              <a:srgbClr val="1565C0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Authentication Flow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11" name="Shape 11"/>
          <p:cNvSpPr/>
          <p:nvPr/>
        </p:nvSpPr>
        <p:spPr>
          <a:xfrm>
            <a:off x="11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13" name="Shape 13"/>
          <p:cNvSpPr/>
          <p:nvPr/>
        </p:nvSpPr>
        <p:spPr>
          <a:xfrm>
            <a:off x="23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Client</a:t>
            </a:r>
          </a:p>
        </p:txBody>
      </p:sp>
      <p:sp>
        <p:nvSpPr>
          <p:cNvPr id="14" name="Shape 14"/>
          <p:cNvSpPr/>
          <p:nvPr/>
        </p:nvSpPr>
        <p:spPr>
          <a:xfrm>
            <a:off x="29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5" name="Shape 15"/>
          <p:cNvSpPr/>
          <p:nvPr/>
        </p:nvSpPr>
        <p:spPr>
          <a:xfrm>
            <a:off x="23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Client</a:t>
            </a:r>
          </a:p>
        </p:txBody>
      </p:sp>
      <p:sp>
        <p:nvSpPr>
          <p:cNvPr id="16" name="Shape 16"/>
          <p:cNvSpPr/>
          <p:nvPr/>
        </p:nvSpPr>
        <p:spPr>
          <a:xfrm>
            <a:off x="41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Auth Server</a:t>
            </a:r>
          </a:p>
        </p:txBody>
      </p:sp>
      <p:sp>
        <p:nvSpPr>
          <p:cNvPr id="17" name="Shape 17"/>
          <p:cNvSpPr/>
          <p:nvPr/>
        </p:nvSpPr>
        <p:spPr>
          <a:xfrm>
            <a:off x="47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41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Auth Server</a:t>
            </a:r>
          </a:p>
        </p:txBody>
      </p:sp>
      <p:sp>
        <p:nvSpPr>
          <p:cNvPr id="19" name="Shape 19"/>
          <p:cNvSpPr/>
          <p:nvPr/>
        </p:nvSpPr>
        <p:spPr>
          <a:xfrm>
            <a:off x="5900000" y="16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Database</a:t>
            </a:r>
          </a:p>
        </p:txBody>
      </p:sp>
      <p:sp>
        <p:nvSpPr>
          <p:cNvPr id="20" name="Shape 20"/>
          <p:cNvSpPr/>
          <p:nvPr/>
        </p:nvSpPr>
        <p:spPr>
          <a:xfrm>
            <a:off x="6590000" y="2000000"/>
            <a:ext cx="20000" cy="3000000"/>
          </a:xfrm>
          <a:prstGeom prst="rect">
            <a:avLst/>
          </a:prstGeom>
          <a:solidFill>
            <a:srgbClr val="757575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900000" y="5000000"/>
            <a:ext cx="1400000" cy="400000"/>
          </a:xfrm>
          <a:prstGeom prst="rect">
            <a:avLst/>
          </a:prstGeom>
          <a:solidFill>
            <a:srgbClr val="E3F2FD"/>
          </a:solidFill>
          <a:ln w="2">
            <a:solidFill>
              <a:srgbClr val="1565C0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Database</a:t>
            </a:r>
          </a:p>
        </p:txBody>
      </p:sp>
      <p:sp>
        <p:nvSpPr>
          <p:cNvPr id="22" name="Shape 22"/>
          <p:cNvSpPr/>
          <p:nvPr/>
        </p:nvSpPr>
        <p:spPr>
          <a:xfrm>
            <a:off x="1200000" y="220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1200000" y="202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Enter credentials</a:t>
            </a:r>
          </a:p>
        </p:txBody>
      </p:sp>
      <p:sp>
        <p:nvSpPr>
          <p:cNvPr id="24" name="Shape 24"/>
          <p:cNvSpPr/>
          <p:nvPr/>
        </p:nvSpPr>
        <p:spPr>
          <a:xfrm>
            <a:off x="3000000" y="265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3000000" y="247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POST /login</a:t>
            </a:r>
          </a:p>
        </p:txBody>
      </p:sp>
      <p:sp>
        <p:nvSpPr>
          <p:cNvPr id="26" name="Shape 26"/>
          <p:cNvSpPr/>
          <p:nvPr/>
        </p:nvSpPr>
        <p:spPr>
          <a:xfrm>
            <a:off x="4800000" y="3100000"/>
            <a:ext cx="1800000" cy="120000"/>
          </a:xfrm>
          <a:prstGeom prst="righ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4800000" y="292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Validate user</a:t>
            </a:r>
          </a:p>
        </p:txBody>
      </p:sp>
      <p:sp>
        <p:nvSpPr>
          <p:cNvPr id="28" name="Shape 28"/>
          <p:cNvSpPr/>
          <p:nvPr/>
        </p:nvSpPr>
        <p:spPr>
          <a:xfrm>
            <a:off x="4800000" y="355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4800000" y="337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User data</a:t>
            </a:r>
          </a:p>
        </p:txBody>
      </p:sp>
      <p:sp>
        <p:nvSpPr>
          <p:cNvPr id="30" name="Shape 30"/>
          <p:cNvSpPr/>
          <p:nvPr/>
        </p:nvSpPr>
        <p:spPr>
          <a:xfrm>
            <a:off x="3000000" y="400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31" name="Shape 31"/>
          <p:cNvSpPr/>
          <p:nvPr/>
        </p:nvSpPr>
        <p:spPr>
          <a:xfrm>
            <a:off x="3000000" y="382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JWT Token</a:t>
            </a:r>
          </a:p>
        </p:txBody>
      </p:sp>
      <p:sp>
        <p:nvSpPr>
          <p:cNvPr id="32" name="Shape 32"/>
          <p:cNvSpPr/>
          <p:nvPr/>
        </p:nvSpPr>
        <p:spPr>
          <a:xfrm>
            <a:off x="1200000" y="4450000"/>
            <a:ext cx="1800000" cy="120000"/>
          </a:xfrm>
          <a:prstGeom prst="leftArrow">
            <a:avLst/>
          </a:prstGeom>
          <a:solidFill>
            <a:srgbClr val="1565C0"/>
          </a:solidFill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1200000" y="4270000"/>
            <a:ext cx="1800000" cy="16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Login success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7000000" cy="4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Product Development Schedule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10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Planning</a:t>
            </a:r>
          </a:p>
        </p:txBody>
      </p:sp>
      <p:sp>
        <p:nvSpPr>
          <p:cNvPr id="12" name="Shape 12"/>
          <p:cNvSpPr/>
          <p:nvPr/>
        </p:nvSpPr>
        <p:spPr>
          <a:xfrm>
            <a:off x="500000" y="245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Requirements</a:t>
            </a:r>
          </a:p>
        </p:txBody>
      </p:sp>
      <p:sp>
        <p:nvSpPr>
          <p:cNvPr id="13" name="Shape 13"/>
          <p:cNvSpPr/>
          <p:nvPr/>
        </p:nvSpPr>
        <p:spPr>
          <a:xfrm>
            <a:off x="2600000" y="2450000"/>
            <a:ext cx="1800000" cy="250000"/>
          </a:xfrm>
          <a:prstGeom prst="roundRect">
            <a:avLst/>
          </a:pr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500000" y="273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Design</a:t>
            </a:r>
          </a:p>
        </p:txBody>
      </p:sp>
      <p:sp>
        <p:nvSpPr>
          <p:cNvPr id="15" name="Shape 15"/>
          <p:cNvSpPr/>
          <p:nvPr/>
        </p:nvSpPr>
        <p:spPr>
          <a:xfrm>
            <a:off x="2800000" y="2730000"/>
            <a:ext cx="1800000" cy="250000"/>
          </a:xfrm>
          <a:prstGeom prst="round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500000" y="301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Development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" y="336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Backend API</a:t>
            </a:r>
          </a:p>
        </p:txBody>
      </p:sp>
      <p:sp>
        <p:nvSpPr>
          <p:cNvPr id="18" name="Shape 18"/>
          <p:cNvSpPr/>
          <p:nvPr/>
        </p:nvSpPr>
        <p:spPr>
          <a:xfrm>
            <a:off x="2600000" y="3360000"/>
            <a:ext cx="1800000" cy="250000"/>
          </a:xfrm>
          <a:prstGeom prst="round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500000" y="364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Frontend UI</a:t>
            </a:r>
          </a:p>
        </p:txBody>
      </p:sp>
      <p:sp>
        <p:nvSpPr>
          <p:cNvPr id="20" name="Shape 20"/>
          <p:cNvSpPr/>
          <p:nvPr/>
        </p:nvSpPr>
        <p:spPr>
          <a:xfrm>
            <a:off x="2800000" y="3640000"/>
            <a:ext cx="1800000" cy="2500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500000" y="392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Integration</a:t>
            </a:r>
          </a:p>
        </p:txBody>
      </p:sp>
      <p:sp>
        <p:nvSpPr>
          <p:cNvPr id="22" name="Shape 22"/>
          <p:cNvSpPr/>
          <p:nvPr/>
        </p:nvSpPr>
        <p:spPr>
          <a:xfrm>
            <a:off x="3000000" y="392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500000" y="420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Testing</a:t>
            </a:r>
          </a:p>
        </p:txBody>
      </p:sp>
      <p:sp>
        <p:nvSpPr>
          <p:cNvPr id="24" name="Shape 24"/>
          <p:cNvSpPr/>
          <p:nvPr/>
        </p:nvSpPr>
        <p:spPr>
          <a:xfrm>
            <a:off x="500000" y="455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QA Testing</a:t>
            </a:r>
          </a:p>
        </p:txBody>
      </p:sp>
      <p:sp>
        <p:nvSpPr>
          <p:cNvPr id="25" name="Shape 25"/>
          <p:cNvSpPr/>
          <p:nvPr/>
        </p:nvSpPr>
        <p:spPr>
          <a:xfrm>
            <a:off x="2600000" y="4550000"/>
            <a:ext cx="1800000" cy="250000"/>
          </a:xfrm>
          <a:prstGeom prst="roundRect">
            <a:avLst/>
          </a:prstGeom>
          <a:solidFill>
            <a:srgbClr val="70AD47"/>
          </a:solidFill>
        </p:spPr>
        <p:txBody>
          <a:bodyPr/>
          <a:lstStyle/>
          <a:p/>
        </p:txBody>
      </p:sp>
      <p:sp>
        <p:nvSpPr>
          <p:cNvPr id="26" name="Shape 26"/>
          <p:cNvSpPr/>
          <p:nvPr/>
        </p:nvSpPr>
        <p:spPr>
          <a:xfrm>
            <a:off x="500000" y="483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UAT</a:t>
            </a:r>
          </a:p>
        </p:txBody>
      </p:sp>
      <p:sp>
        <p:nvSpPr>
          <p:cNvPr id="27" name="Shape 27"/>
          <p:cNvSpPr/>
          <p:nvPr/>
        </p:nvSpPr>
        <p:spPr>
          <a:xfrm>
            <a:off x="2800000" y="483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500000" y="5110000"/>
            <a:ext cx="7000000" cy="300000"/>
          </a:xfrm>
          <a:prstGeom prst="rect">
            <a:avLst/>
          </a:prstGeom>
          <a:solidFill>
            <a:srgbClr val="E0E0E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Launch</a:t>
            </a:r>
          </a:p>
        </p:txBody>
      </p:sp>
      <p:sp>
        <p:nvSpPr>
          <p:cNvPr id="29" name="Shape 29"/>
          <p:cNvSpPr/>
          <p:nvPr/>
        </p:nvSpPr>
        <p:spPr>
          <a:xfrm>
            <a:off x="500000" y="5460000"/>
            <a:ext cx="2000000" cy="25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Deployment</a:t>
            </a:r>
          </a:p>
        </p:txBody>
      </p:sp>
      <p:sp>
        <p:nvSpPr>
          <p:cNvPr id="30" name="Shape 30"/>
          <p:cNvSpPr/>
          <p:nvPr/>
        </p:nvSpPr>
        <p:spPr>
          <a:xfrm>
            <a:off x="2600000" y="5460000"/>
            <a:ext cx="1800000" cy="250000"/>
          </a:xfrm>
          <a:prstGeom prst="roundRect">
            <a:avLst/>
          </a:prstGeom>
          <a:solidFill>
            <a:srgbClr val="FFC000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Data Model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ORDER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0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int id PK
int user_id FK
date order_date
decimal total</a:t>
            </a:r>
          </a:p>
        </p:txBody>
      </p:sp>
      <p:sp>
        <p:nvSpPr>
          <p:cNvPr id="12" name="Shape 12"/>
          <p:cNvSpPr/>
          <p:nvPr/>
        </p:nvSpPr>
        <p:spPr>
          <a:xfrm>
            <a:off x="33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PRODUCT</a:t>
            </a:r>
          </a:p>
        </p:txBody>
      </p:sp>
      <p:sp>
        <p:nvSpPr>
          <p:cNvPr id="13" name="Shape 13"/>
          <p:cNvSpPr/>
          <p:nvPr/>
        </p:nvSpPr>
        <p:spPr>
          <a:xfrm>
            <a:off x="3300000" y="20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int id PK
string name
decimal price
int stock</a:t>
            </a:r>
          </a:p>
        </p:txBody>
      </p:sp>
      <p:sp>
        <p:nvSpPr>
          <p:cNvPr id="14" name="Shape 14"/>
          <p:cNvSpPr/>
          <p:nvPr/>
        </p:nvSpPr>
        <p:spPr>
          <a:xfrm>
            <a:off x="6100000" y="16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USER</a:t>
            </a:r>
          </a:p>
        </p:txBody>
      </p:sp>
      <p:sp>
        <p:nvSpPr>
          <p:cNvPr id="15" name="Shape 15"/>
          <p:cNvSpPr/>
          <p:nvPr/>
        </p:nvSpPr>
        <p:spPr>
          <a:xfrm>
            <a:off x="6100000" y="20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int id PK
string name
string email
date created_at</a:t>
            </a:r>
          </a:p>
        </p:txBody>
      </p:sp>
      <p:sp>
        <p:nvSpPr>
          <p:cNvPr id="16" name="Shape 16"/>
          <p:cNvSpPr/>
          <p:nvPr/>
        </p:nvSpPr>
        <p:spPr>
          <a:xfrm>
            <a:off x="5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rdered in"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" y="4500000"/>
            <a:ext cx="2200000" cy="28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/>
            </a:r>
          </a:p>
        </p:txBody>
      </p:sp>
      <p:sp>
        <p:nvSpPr>
          <p:cNvPr id="18" name="Shape 18"/>
          <p:cNvSpPr/>
          <p:nvPr/>
        </p:nvSpPr>
        <p:spPr>
          <a:xfrm>
            <a:off x="33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ntains</a:t>
            </a:r>
          </a:p>
        </p:txBody>
      </p:sp>
      <p:sp>
        <p:nvSpPr>
          <p:cNvPr id="19" name="Shape 19"/>
          <p:cNvSpPr/>
          <p:nvPr/>
        </p:nvSpPr>
        <p:spPr>
          <a:xfrm>
            <a:off x="3300000" y="4500000"/>
            <a:ext cx="2200000" cy="28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/>
            </a:r>
          </a:p>
        </p:txBody>
      </p:sp>
      <p:sp>
        <p:nvSpPr>
          <p:cNvPr id="20" name="Shape 20"/>
          <p:cNvSpPr/>
          <p:nvPr/>
        </p:nvSpPr>
        <p:spPr>
          <a:xfrm>
            <a:off x="6100000" y="4100000"/>
            <a:ext cx="2200000" cy="400000"/>
          </a:xfrm>
          <a:prstGeom prst="rect">
            <a:avLst/>
          </a:prstGeom>
          <a:solidFill>
            <a:srgbClr val="C2185B"/>
          </a:solidFill>
          <a:ln w="2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LINE_ITEM</a:t>
            </a:r>
          </a:p>
        </p:txBody>
      </p:sp>
      <p:sp>
        <p:nvSpPr>
          <p:cNvPr id="21" name="Shape 21"/>
          <p:cNvSpPr/>
          <p:nvPr/>
        </p:nvSpPr>
        <p:spPr>
          <a:xfrm>
            <a:off x="6100000" y="4500000"/>
            <a:ext cx="2200000" cy="1120000"/>
          </a:xfrm>
          <a:prstGeom prst="rect">
            <a:avLst/>
          </a:prstGeom>
          <a:solidFill>
            <a:srgbClr val="FCE4EC"/>
          </a:solidFill>
          <a:ln w="1">
            <a:solidFill>
              <a:srgbClr val="880E4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int id PK
int order_id FK
int product_id FK
int quantity</a:t>
            </a:r>
          </a:p>
        </p:txBody>
      </p:sp>
      <p:cxnSp>
        <p:nvCxnSpPr>
          <p:cNvPr id="62" name="Connector 62"/>
          <p:cNvCxnSpPr>
</p:cNvCxnSpPr>
          <p:nvPr/>
        </p:nvCxnSpPr>
        <p:spPr>
          <a:xfrm>
            <a:off x="2700000" y="1800000"/>
            <a:ext cx="600000" cy="2500000"/>
          </a:xfrm>
          <a:prstGeom prst="bentConnector3">
            <a:avLst/>
          </a:prstGeom>
          <a:ln w="19050">
            <a:solidFill>
              <a:srgbClr val="880E4F"/>
            </a:solidFill>
            <a:prstDash val="solid"/>
            <a:tailEnd type="diamond" w="med" len="med"/>
          </a:ln>
        </p:spPr>
      </p:cxnSp>
      <p:cxnSp>
        <p:nvCxnSpPr>
          <p:cNvPr id="63" name="Connector 63"/>
          <p:cNvCxnSpPr>
</p:cNvCxnSpPr>
          <p:nvPr/>
        </p:nvCxnSpPr>
        <p:spPr>
          <a:xfrm flipH="1">
            <a:off x="500000" y="1800000"/>
            <a:ext cx="5000000" cy="2500000"/>
          </a:xfrm>
          <a:prstGeom prst="bentConnector3">
            <a:avLst/>
          </a:prstGeom>
          <a:ln w="19050">
            <a:solidFill>
              <a:srgbClr val="880E4F"/>
            </a:solidFill>
            <a:prstDash val="solid"/>
            <a:tailEnd type="diamond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Application States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800000"/>
            <a:ext cx="1500000" cy="500000"/>
          </a:xfrm>
          <a:prstGeom prst="ellipse">
            <a:avLst/>
          </a:prstGeom>
          <a:solidFill>
            <a:srgbClr val="000000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Start</a:t>
            </a:r>
          </a:p>
        </p:txBody>
      </p:sp>
      <p:sp>
        <p:nvSpPr>
          <p:cNvPr id="11" name="Shape 11"/>
          <p:cNvSpPr/>
          <p:nvPr/>
        </p:nvSpPr>
        <p:spPr>
          <a:xfrm>
            <a:off x="3200000" y="18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Idle</a:t>
            </a:r>
          </a:p>
        </p:txBody>
      </p:sp>
      <p:sp>
        <p:nvSpPr>
          <p:cNvPr id="12" name="Shape 12"/>
          <p:cNvSpPr/>
          <p:nvPr/>
        </p:nvSpPr>
        <p:spPr>
          <a:xfrm>
            <a:off x="5400000" y="18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Loading</a:t>
            </a:r>
          </a:p>
        </p:txBody>
      </p:sp>
      <p:sp>
        <p:nvSpPr>
          <p:cNvPr id="13" name="Shape 13"/>
          <p:cNvSpPr/>
          <p:nvPr/>
        </p:nvSpPr>
        <p:spPr>
          <a:xfrm>
            <a:off x="1000000" y="30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Success</a:t>
            </a:r>
          </a:p>
        </p:txBody>
      </p:sp>
      <p:sp>
        <p:nvSpPr>
          <p:cNvPr id="14" name="Shape 14"/>
          <p:cNvSpPr/>
          <p:nvPr/>
        </p:nvSpPr>
        <p:spPr>
          <a:xfrm>
            <a:off x="3200000" y="3000000"/>
            <a:ext cx="1500000" cy="500000"/>
          </a:xfrm>
          <a:prstGeom prst="roundRect">
            <a:avLst/>
          </a:prstGeom>
          <a:solidFill>
            <a:srgbClr val="E0F7FA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Error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0" y="3000000"/>
            <a:ext cx="1500000" cy="500000"/>
          </a:xfrm>
          <a:prstGeom prst="ellipse">
            <a:avLst/>
          </a:prstGeom>
          <a:solidFill>
            <a:srgbClr val="000000"/>
          </a:solidFill>
          <a:ln w="2">
            <a:solidFill>
              <a:srgbClr val="00838F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End</a:t>
            </a:r>
          </a:p>
        </p:txBody>
      </p:sp>
      <p:cxnSp>
        <p:nvCxnSpPr>
          <p:cNvPr id="56" name="Connector 56"/>
          <p:cNvCxnSpPr>
</p:cNvCxnSpPr>
          <p:nvPr/>
        </p:nvCxnSpPr>
        <p:spPr>
          <a:xfrm>
            <a:off x="2500000" y="2050000"/>
            <a:ext cx="7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</p:cxnSp>
      <p:cxnSp>
        <p:nvCxnSpPr>
          <p:cNvPr id="57" name="Connector 57"/>
          <p:cNvCxnSpPr>
</p:cNvCxnSpPr>
          <p:nvPr/>
        </p:nvCxnSpPr>
        <p:spPr>
          <a:xfrm>
            <a:off x="4700000" y="2050000"/>
            <a:ext cx="7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fetch data</a:t>
            </a:r>
          </a:p>
        </p:txBody>
      </p:cxnSp>
      <p:cxnSp>
        <p:nvCxnSpPr>
          <p:cNvPr id="58" name="Connector 58"/>
          <p:cNvCxnSpPr>
</p:cNvCxnSpPr>
          <p:nvPr/>
        </p:nvCxnSpPr>
        <p:spPr>
          <a:xfrm flipH="1">
            <a:off x="1000000" y="2050000"/>
            <a:ext cx="59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data received</a:t>
            </a:r>
          </a:p>
        </p:txBody>
      </p:cxnSp>
      <p:cxnSp>
        <p:nvCxnSpPr>
          <p:cNvPr id="59" name="Connector 59"/>
          <p:cNvCxnSpPr>
</p:cNvCxnSpPr>
          <p:nvPr/>
        </p:nvCxnSpPr>
        <p:spPr>
          <a:xfrm flipH="1">
            <a:off x="3200000" y="2050000"/>
            <a:ext cx="3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request failed</a:t>
            </a:r>
          </a:p>
        </p:txBody>
      </p:cxnSp>
      <p:cxnSp>
        <p:nvCxnSpPr>
          <p:cNvPr id="60" name="Connector 60"/>
          <p:cNvCxnSpPr>
</p:cNvCxnSpPr>
          <p:nvPr/>
        </p:nvCxnSpPr>
        <p:spPr>
          <a:xfrm flipV="1">
            <a:off x="2500000" y="2050000"/>
            <a:ext cx="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reset</a:t>
            </a:r>
          </a:p>
        </p:txBody>
      </p:cxnSp>
      <p:cxnSp>
        <p:nvCxnSpPr>
          <p:cNvPr id="61" name="Connector 61"/>
          <p:cNvCxnSpPr>
</p:cNvCxnSpPr>
          <p:nvPr/>
        </p:nvCxnSpPr>
        <p:spPr>
          <a:xfrm flipV="1">
            <a:off x="4700000" y="2050000"/>
            <a:ext cx="7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retry</a:t>
            </a:r>
          </a:p>
        </p:txBody>
      </p:cxnSp>
      <p:cxnSp>
        <p:nvCxnSpPr>
          <p:cNvPr id="62" name="Connector 62"/>
          <p:cNvCxnSpPr>
</p:cNvCxnSpPr>
          <p:nvPr/>
        </p:nvCxnSpPr>
        <p:spPr>
          <a:xfrm flipH="1" flipV="1">
            <a:off x="3200000" y="2050000"/>
            <a:ext cx="1500000" cy="120000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  <p:txBody>
          <a:bodyPr/>
          <a:lstStyle/>
          <a:p>
            <a:r>
              <a:rPr lang="en-US" sz="1000"/>
              <a:t>cancel</a:t>
            </a:r>
          </a:p>
        </p:txBody>
      </p:cxnSp>
      <p:cxnSp>
        <p:nvCxnSpPr>
          <p:cNvPr id="63" name="Connector 63"/>
          <p:cNvCxnSpPr>
</p:cNvCxnSpPr>
          <p:nvPr/>
        </p:nvCxnSpPr>
        <p:spPr>
          <a:xfrm>
            <a:off x="2500000" y="3250000"/>
            <a:ext cx="2900000" cy="0"/>
          </a:xfrm>
          <a:prstGeom prst="bentConnector3">
            <a:avLst/>
          </a:prstGeom>
          <a:ln w="19050">
            <a:solidFill>
              <a:srgbClr val="00838F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Class Structure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Presentation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1950000"/>
            <a:ext cx="2000000" cy="50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+String title
+List~Slide~ slides</a:t>
            </a:r>
          </a:p>
        </p:txBody>
      </p:sp>
      <p:sp>
        <p:nvSpPr>
          <p:cNvPr id="12" name="Shape 12"/>
          <p:cNvSpPr/>
          <p:nvPr/>
        </p:nvSpPr>
        <p:spPr>
          <a:xfrm>
            <a:off x="500000" y="2450000"/>
            <a:ext cx="2000000" cy="50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+addSlide()
+save()</a:t>
            </a:r>
          </a:p>
        </p:txBody>
      </p:sp>
      <p:sp>
        <p:nvSpPr>
          <p:cNvPr id="13" name="Shape 13"/>
          <p:cNvSpPr/>
          <p:nvPr/>
        </p:nvSpPr>
        <p:spPr>
          <a:xfrm>
            <a:off x="30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Slide</a:t>
            </a:r>
          </a:p>
        </p:txBody>
      </p:sp>
      <p:sp>
        <p:nvSpPr>
          <p:cNvPr id="14" name="Shape 14"/>
          <p:cNvSpPr/>
          <p:nvPr/>
        </p:nvSpPr>
        <p:spPr>
          <a:xfrm>
            <a:off x="3000000" y="1950000"/>
            <a:ext cx="2000000" cy="50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+String title
+List~Element~ elements</a:t>
            </a:r>
          </a:p>
        </p:txBody>
      </p:sp>
      <p:sp>
        <p:nvSpPr>
          <p:cNvPr id="15" name="Shape 15"/>
          <p:cNvSpPr/>
          <p:nvPr/>
        </p:nvSpPr>
        <p:spPr>
          <a:xfrm>
            <a:off x="3000000" y="245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+addElement()</a:t>
            </a:r>
          </a:p>
        </p:txBody>
      </p:sp>
      <p:sp>
        <p:nvSpPr>
          <p:cNvPr id="16" name="Shape 16"/>
          <p:cNvSpPr/>
          <p:nvPr/>
        </p:nvSpPr>
        <p:spPr>
          <a:xfrm>
            <a:off x="5500000" y="1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Element</a:t>
            </a:r>
          </a:p>
        </p:txBody>
      </p:sp>
      <p:sp>
        <p:nvSpPr>
          <p:cNvPr id="17" name="Shape 17"/>
          <p:cNvSpPr/>
          <p:nvPr/>
        </p:nvSpPr>
        <p:spPr>
          <a:xfrm>
            <a:off x="5500000" y="1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&lt;&lt;interface&gt;&gt;</a:t>
            </a:r>
          </a:p>
        </p:txBody>
      </p:sp>
      <p:sp>
        <p:nvSpPr>
          <p:cNvPr id="18" name="Shape 18"/>
          <p:cNvSpPr/>
          <p:nvPr/>
        </p:nvSpPr>
        <p:spPr>
          <a:xfrm>
            <a:off x="5500000" y="2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+render()</a:t>
            </a:r>
          </a:p>
        </p:txBody>
      </p:sp>
      <p:sp>
        <p:nvSpPr>
          <p:cNvPr id="19" name="Shape 19"/>
          <p:cNvSpPr/>
          <p:nvPr/>
        </p:nvSpPr>
        <p:spPr>
          <a:xfrm>
            <a:off x="500000" y="3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TextBox</a:t>
            </a:r>
          </a:p>
        </p:txBody>
      </p:sp>
      <p:sp>
        <p:nvSpPr>
          <p:cNvPr id="20" name="Shape 20"/>
          <p:cNvSpPr/>
          <p:nvPr/>
        </p:nvSpPr>
        <p:spPr>
          <a:xfrm>
            <a:off x="500000" y="3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+String text</a:t>
            </a:r>
          </a:p>
        </p:txBody>
      </p:sp>
      <p:sp>
        <p:nvSpPr>
          <p:cNvPr id="21" name="Shape 21"/>
          <p:cNvSpPr/>
          <p:nvPr/>
        </p:nvSpPr>
        <p:spPr>
          <a:xfrm>
            <a:off x="500000" y="4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+render()</a:t>
            </a:r>
          </a:p>
        </p:txBody>
      </p:sp>
      <p:sp>
        <p:nvSpPr>
          <p:cNvPr id="22" name="Shape 22"/>
          <p:cNvSpPr/>
          <p:nvPr/>
        </p:nvSpPr>
        <p:spPr>
          <a:xfrm>
            <a:off x="3000000" y="3600000"/>
            <a:ext cx="2000000" cy="350000"/>
          </a:xfrm>
          <a:prstGeom prst="rect">
            <a:avLst/>
          </a:prstGeom>
          <a:solidFill>
            <a:srgbClr val="4472C4"/>
          </a:solidFill>
          <a:ln w="2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Table</a:t>
            </a:r>
          </a:p>
        </p:txBody>
      </p:sp>
      <p:sp>
        <p:nvSpPr>
          <p:cNvPr id="23" name="Shape 23"/>
          <p:cNvSpPr/>
          <p:nvPr/>
        </p:nvSpPr>
        <p:spPr>
          <a:xfrm>
            <a:off x="3000000" y="3950000"/>
            <a:ext cx="2000000" cy="250000"/>
          </a:xfrm>
          <a:prstGeom prst="rect">
            <a:avLst/>
          </a:prstGeom>
          <a:solidFill>
            <a:srgbClr val="D6DCE5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+List~Row~ rows</a:t>
            </a:r>
          </a:p>
        </p:txBody>
      </p:sp>
      <p:sp>
        <p:nvSpPr>
          <p:cNvPr id="24" name="Shape 24"/>
          <p:cNvSpPr/>
          <p:nvPr/>
        </p:nvSpPr>
        <p:spPr>
          <a:xfrm>
            <a:off x="3000000" y="4200000"/>
            <a:ext cx="2000000" cy="250000"/>
          </a:xfrm>
          <a:prstGeom prst="rect">
            <a:avLst/>
          </a:prstGeom>
          <a:solidFill>
            <a:srgbClr val="FFFFFF"/>
          </a:solidFill>
          <a:ln w="1">
            <a:solidFill>
              <a:srgbClr val="2F5496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+render()</a:t>
            </a:r>
          </a:p>
        </p:txBody>
      </p:sp>
      <p:cxnSp>
        <p:nvCxnSpPr>
          <p:cNvPr id="65" name="Connector 65"/>
          <p:cNvCxnSpPr>
</p:cNvCxnSpPr>
          <p:nvPr/>
        </p:nvCxnSpPr>
        <p:spPr>
          <a:xfrm flipH="1">
            <a:off x="1500000" y="1600000"/>
            <a:ext cx="5000000" cy="2500000"/>
          </a:xfrm>
          <a:prstGeom prst="bentConnector3">
            <a:avLst/>
          </a:prstGeom>
          <a:ln w="19050">
            <a:solidFill>
              <a:srgbClr val="2F5496"/>
            </a:solidFill>
            <a:prstDash val="solid"/>
            <a:tailEnd type="triangle" w="med" len="med"/>
          </a:ln>
        </p:spPr>
      </p:cxnSp>
      <p:cxnSp>
        <p:nvCxnSpPr>
          <p:cNvPr id="66" name="Connector 66"/>
          <p:cNvCxnSpPr>
</p:cNvCxnSpPr>
          <p:nvPr/>
        </p:nvCxnSpPr>
        <p:spPr>
          <a:xfrm flipH="1">
            <a:off x="4000000" y="1600000"/>
            <a:ext cx="2500000" cy="2500000"/>
          </a:xfrm>
          <a:prstGeom prst="bentConnector3">
            <a:avLst/>
          </a:prstGeom>
          <a:ln w="19050">
            <a:solidFill>
              <a:srgbClr val="2F5496"/>
            </a:solidFill>
            <a:prstDash val="solid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User Journey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Diagram: journey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Market Analysis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1500000"/>
            <a:ext cx="3000000" cy="3000000"/>
          </a:xfrm>
          <a:prstGeom prst="ellipse">
            <a:avLst/>
          </a:prstGeom>
          <a:solidFill>
            <a:srgbClr val="4472C4"/>
          </a:solidFill>
          <a:ln w="2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5000000" y="2000000"/>
            <a:ext cx="200000" cy="200000"/>
          </a:xfrm>
          <a:prstGeom prst="rect">
            <a:avLst/>
          </a:prstGeom>
          <a:solidFill>
            <a:srgbClr val="4472C4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5300000" y="2000000"/>
            <a:ext cx="2500000" cy="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Our Product (35.0%)</a:t>
            </a:r>
          </a:p>
        </p:txBody>
      </p:sp>
      <p:sp>
        <p:nvSpPr>
          <p:cNvPr id="13" name="Shape 13"/>
          <p:cNvSpPr/>
          <p:nvPr/>
        </p:nvSpPr>
        <p:spPr>
          <a:xfrm>
            <a:off x="5000000" y="2350000"/>
            <a:ext cx="200000" cy="200000"/>
          </a:xfrm>
          <a:prstGeom prst="rect">
            <a:avLst/>
          </a:prstGeom>
          <a:solidFill>
            <a:srgbClr val="ED7D31"/>
          </a:solidFill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5300000" y="2350000"/>
            <a:ext cx="2500000" cy="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Competitor A (25.0%)</a:t>
            </a:r>
          </a:p>
        </p:txBody>
      </p:sp>
      <p:sp>
        <p:nvSpPr>
          <p:cNvPr id="15" name="Shape 15"/>
          <p:cNvSpPr/>
          <p:nvPr/>
        </p:nvSpPr>
        <p:spPr>
          <a:xfrm>
            <a:off x="5000000" y="2700000"/>
            <a:ext cx="200000" cy="200000"/>
          </a:xfrm>
          <a:prstGeom prst="rect">
            <a:avLst/>
          </a:prstGeom>
          <a:solidFill>
            <a:srgbClr val="A5A5A5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5300000" y="2700000"/>
            <a:ext cx="2500000" cy="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Competitor B (20.0%)</a:t>
            </a:r>
          </a:p>
        </p:txBody>
      </p:sp>
      <p:sp>
        <p:nvSpPr>
          <p:cNvPr id="17" name="Shape 17"/>
          <p:cNvSpPr/>
          <p:nvPr/>
        </p:nvSpPr>
        <p:spPr>
          <a:xfrm>
            <a:off x="5000000" y="3050000"/>
            <a:ext cx="200000" cy="200000"/>
          </a:xfrm>
          <a:prstGeom prst="rect">
            <a:avLst/>
          </a:prstGeom>
          <a:solidFill>
            <a:srgbClr val="FFC000"/>
          </a:solidFill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5300000" y="3050000"/>
            <a:ext cx="2500000" cy="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Competitor C (12.0%)</a:t>
            </a:r>
          </a:p>
        </p:txBody>
      </p:sp>
      <p:sp>
        <p:nvSpPr>
          <p:cNvPr id="19" name="Shape 19"/>
          <p:cNvSpPr/>
          <p:nvPr/>
        </p:nvSpPr>
        <p:spPr>
          <a:xfrm>
            <a:off x="5000000" y="3400000"/>
            <a:ext cx="200000" cy="20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5300000" y="3400000"/>
            <a:ext cx="2500000" cy="2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Others (8.0%)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Feature Priorities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Diagram: quadrantChart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Development History</a:t>
            </a:r>
          </a:p>
        </p:txBody>
      </p:sp>
      <p:sp>
        <p:nvSpPr>
          <p:cNvPr id="10" name="Shape 10"/>
          <p:cNvSpPr/>
          <p:nvPr/>
        </p:nvSpPr>
        <p:spPr>
          <a:xfrm>
            <a:off x="1000000" y="2000000"/>
            <a:ext cx="7000000" cy="3000000"/>
          </a:xfrm>
          <a:prstGeom prst="rect">
            <a:avLst/>
          </a:prstGeom>
          <a:solidFill>
            <a:srgbClr val="F5F5F5"/>
          </a:solidFill>
          <a:ln w="1">
            <a:solidFill>
              <a:srgbClr val="757575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Diagram: gitGraph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Mindmap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0" y="2700000"/>
            <a:ext cx="2000000" cy="600000"/>
          </a:xfrm>
          <a:prstGeom prst="ellipse">
            <a:avLst/>
          </a:prstGeom>
          <a:solidFill>
            <a:srgbClr val="3949AB"/>
          </a:solidFill>
          <a:ln w="2">
            <a:solidFill>
              <a:srgbClr val="1A237E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root((MD2PPT</a:t>
            </a:r>
          </a:p>
        </p:txBody>
      </p:sp>
      <p:sp>
        <p:nvSpPr>
          <p:cNvPr id="11" name="Shape 11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4472C4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Input</a:t>
            </a:r>
          </a:p>
        </p:txBody>
      </p:sp>
      <p:sp>
        <p:nvSpPr>
          <p:cNvPr id="12" name="Shape 12"/>
          <p:cNvSpPr/>
          <p:nvPr/>
        </p:nvSpPr>
        <p:spPr>
          <a:xfrm>
            <a:off x="5250000" y="2800000"/>
            <a:ext cx="1500000" cy="400000"/>
          </a:xfrm>
          <a:prstGeom prst="roundRect">
            <a:avLst/>
          </a:prstGeom>
          <a:solidFill>
            <a:srgbClr val="ED7D31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Processing</a:t>
            </a:r>
          </a:p>
        </p:txBody>
      </p:sp>
      <p:sp>
        <p:nvSpPr>
          <p:cNvPr id="13" name="Shape 13"/>
          <p:cNvSpPr/>
          <p:nvPr/>
        </p:nvSpPr>
        <p:spPr>
          <a:xfrm>
            <a:off x="3250000" y="4800000"/>
            <a:ext cx="1500000" cy="400000"/>
          </a:xfrm>
          <a:prstGeom prst="roundRect">
            <a:avLst/>
          </a:prstGeom>
          <a:solidFill>
            <a:srgbClr val="70AD4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Output</a:t>
            </a:r>
          </a:p>
        </p:txBody>
      </p:sp>
      <p:sp>
        <p:nvSpPr>
          <p:cNvPr id="14" name="Shape 14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FFC000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Features</a:t>
            </a:r>
          </a:p>
        </p:txBody>
      </p:sp>
      <p:sp>
        <p:nvSpPr>
          <p:cNvPr id="15" name="Shape 15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Markdown files</a:t>
            </a:r>
          </a:p>
        </p:txBody>
      </p:sp>
      <p:sp>
        <p:nvSpPr>
          <p:cNvPr id="16" name="Shape 16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GFM tables</a:t>
            </a:r>
          </a:p>
        </p:txBody>
      </p:sp>
      <p:sp>
        <p:nvSpPr>
          <p:cNvPr id="17" name="Shape 17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Mermaid diagrams</a:t>
            </a:r>
          </a:p>
        </p:txBody>
      </p:sp>
      <p:sp>
        <p:nvSpPr>
          <p:cNvPr id="18" name="Shape 18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Parse markdown</a:t>
            </a:r>
          </a:p>
        </p:txBody>
      </p:sp>
      <p:sp>
        <p:nvSpPr>
          <p:cNvPr id="19" name="Shape 19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Convert elements</a:t>
            </a:r>
          </a:p>
        </p:txBody>
      </p:sp>
      <p:sp>
        <p:nvSpPr>
          <p:cNvPr id="20" name="Shape 20"/>
          <p:cNvSpPr/>
          <p:nvPr/>
        </p:nvSpPr>
        <p:spPr>
          <a:xfrm>
            <a:off x="64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Generate XML</a:t>
            </a:r>
          </a:p>
        </p:txBody>
      </p:sp>
      <p:sp>
        <p:nvSpPr>
          <p:cNvPr id="21" name="Shape 21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PPTX files</a:t>
            </a:r>
          </a:p>
        </p:txBody>
      </p:sp>
      <p:sp>
        <p:nvSpPr>
          <p:cNvPr id="22" name="Shape 22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Speaker notes</a:t>
            </a:r>
          </a:p>
        </p:txBody>
      </p:sp>
      <p:sp>
        <p:nvSpPr>
          <p:cNvPr id="23" name="Shape 23"/>
          <p:cNvSpPr/>
          <p:nvPr/>
        </p:nvSpPr>
        <p:spPr>
          <a:xfrm>
            <a:off x="3250000" y="60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Styled content</a:t>
            </a:r>
          </a:p>
        </p:txBody>
      </p:sp>
      <p:sp>
        <p:nvSpPr>
          <p:cNvPr id="24" name="Shape 24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Tables</a:t>
            </a:r>
          </a:p>
        </p:txBody>
      </p:sp>
      <p:sp>
        <p:nvSpPr>
          <p:cNvPr id="25" name="Shape 25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Code blocks</a:t>
            </a:r>
          </a:p>
        </p:txBody>
      </p:sp>
      <p:sp>
        <p:nvSpPr>
          <p:cNvPr id="26" name="Shape 26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Diagrams</a:t>
            </a:r>
          </a:p>
        </p:txBody>
      </p:sp>
      <p:sp>
        <p:nvSpPr>
          <p:cNvPr id="27" name="Shape 27"/>
          <p:cNvSpPr/>
          <p:nvPr/>
        </p:nvSpPr>
        <p:spPr>
          <a:xfrm>
            <a:off x="3250000" y="2800000"/>
            <a:ext cx="1500000" cy="400000"/>
          </a:xfrm>
          <a:prstGeom prst="roundRect">
            <a:avLst/>
          </a:prstGeom>
          <a:solidFill>
            <a:srgbClr val="E8EAF6"/>
          </a:solidFill>
          <a:ln w="1">
            <a:solidFill>
              <a:srgbClr val="3949AB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Formatting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</a:t>
            </a:r>
          </a:p>
        </p:txBody>
      </p:sp>
      <p:sp>
        <p:nvSpPr>
          <p:cNvPr id="10" name="Shape 10"/>
          <p:cNvSpPr/>
          <p:nvPr/>
        </p:nvSpPr>
        <p:spPr>
          <a:xfrm>
            <a:off x="500000" y="1600000"/>
            <a:ext cx="7500000" cy="400000"/>
          </a:xfrm>
          <a:prstGeom prst="rect">
            <a:avLst/>
          </a:prstGeom>
        </p:spPr>
        <p:txBody>
          <a:bodyPr wrap="square" rtlCol="0" anchor="ctr"/>
          <a:lstStyle/>
          <a:p>
            <a:pPr algn="ctr"/>
            <a:r>
              <a:rPr lang="en-US" sz="1800" dirty="0"/>
              <a:t>MD2PPT Development Timeline</a:t>
            </a:r>
          </a:p>
        </p:txBody>
      </p:sp>
      <p:sp>
        <p:nvSpPr>
          <p:cNvPr id="11" name="Shape 11"/>
          <p:cNvSpPr/>
          <p:nvPr/>
        </p:nvSpPr>
        <p:spPr>
          <a:xfrm>
            <a:off x="500000" y="2500000"/>
            <a:ext cx="8500000" cy="30000"/>
          </a:xfrm>
          <a:prstGeom prst="rect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11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5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2024-01</a:t>
            </a:r>
          </a:p>
        </p:txBody>
      </p:sp>
      <p:sp>
        <p:nvSpPr>
          <p:cNvPr id="14" name="Shape 14"/>
          <p:cNvSpPr/>
          <p:nvPr/>
        </p:nvSpPr>
        <p:spPr>
          <a:xfrm>
            <a:off x="500000" y="2650000"/>
            <a:ext cx="1400000" cy="250000"/>
          </a:xfrm>
          <a:prstGeom prst="roundRect">
            <a:avLst/>
          </a:prstGeom>
          <a:solidFill>
            <a:srgbClr val="EFEBE9"/>
          </a:solidFill>
          <a:ln w="1">
            <a:solidFill>
              <a:srgbClr val="5D4037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Project started</a:t>
            </a:r>
          </a:p>
        </p:txBody>
      </p:sp>
      <p:sp>
        <p:nvSpPr>
          <p:cNvPr id="15" name="Shape 15"/>
          <p:cNvSpPr/>
          <p:nvPr/>
        </p:nvSpPr>
        <p:spPr>
          <a:xfrm>
            <a:off x="27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21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2024-02</a:t>
            </a:r>
          </a:p>
        </p:txBody>
      </p:sp>
      <p:sp>
        <p:nvSpPr>
          <p:cNvPr id="17" name="Shape 17"/>
          <p:cNvSpPr/>
          <p:nvPr/>
        </p:nvSpPr>
        <p:spPr>
          <a:xfrm>
            <a:off x="2100000" y="2650000"/>
            <a:ext cx="1400000" cy="500000"/>
          </a:xfrm>
          <a:prstGeom prst="roundRect">
            <a:avLst/>
          </a:prstGeom>
          <a:solidFill>
            <a:srgbClr val="D7CCC8"/>
          </a:solidFill>
          <a:ln w="1">
            <a:solidFill>
              <a:srgbClr val="5D4037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Core architecture
Basic markdown parsing</a:t>
            </a:r>
          </a:p>
        </p:txBody>
      </p:sp>
      <p:sp>
        <p:nvSpPr>
          <p:cNvPr id="18" name="Shape 18"/>
          <p:cNvSpPr/>
          <p:nvPr/>
        </p:nvSpPr>
        <p:spPr>
          <a:xfrm>
            <a:off x="43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19" name="Shape 19"/>
          <p:cNvSpPr/>
          <p:nvPr/>
        </p:nvSpPr>
        <p:spPr>
          <a:xfrm>
            <a:off x="37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2024-03</a:t>
            </a:r>
          </a:p>
        </p:txBody>
      </p:sp>
      <p:sp>
        <p:nvSpPr>
          <p:cNvPr id="20" name="Shape 20"/>
          <p:cNvSpPr/>
          <p:nvPr/>
        </p:nvSpPr>
        <p:spPr>
          <a:xfrm>
            <a:off x="3700000" y="2650000"/>
            <a:ext cx="1400000" cy="500000"/>
          </a:xfrm>
          <a:prstGeom prst="roundRect">
            <a:avLst/>
          </a:prstGeom>
          <a:solidFill>
            <a:srgbClr val="BCAAA4"/>
          </a:solidFill>
          <a:ln w="1">
            <a:solidFill>
              <a:srgbClr val="5D4037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Slide generation
Table support</a:t>
            </a:r>
          </a:p>
        </p:txBody>
      </p:sp>
      <p:sp>
        <p:nvSpPr>
          <p:cNvPr id="21" name="Shape 21"/>
          <p:cNvSpPr/>
          <p:nvPr/>
        </p:nvSpPr>
        <p:spPr>
          <a:xfrm>
            <a:off x="59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53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2024-04</a:t>
            </a:r>
          </a:p>
        </p:txBody>
      </p:sp>
      <p:sp>
        <p:nvSpPr>
          <p:cNvPr id="23" name="Shape 23"/>
          <p:cNvSpPr/>
          <p:nvPr/>
        </p:nvSpPr>
        <p:spPr>
          <a:xfrm>
            <a:off x="5300000" y="2650000"/>
            <a:ext cx="1400000" cy="500000"/>
          </a:xfrm>
          <a:prstGeom prst="roundRect">
            <a:avLst/>
          </a:prstGeom>
          <a:solidFill>
            <a:srgbClr val="A1887F"/>
          </a:solidFill>
          <a:ln w="1">
            <a:solidFill>
              <a:srgbClr val="5D4037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Code blocks
Mermaid integration</a:t>
            </a:r>
          </a:p>
        </p:txBody>
      </p:sp>
      <p:sp>
        <p:nvSpPr>
          <p:cNvPr id="24" name="Shape 24"/>
          <p:cNvSpPr/>
          <p:nvPr/>
        </p:nvSpPr>
        <p:spPr>
          <a:xfrm>
            <a:off x="7525000" y="2440000"/>
            <a:ext cx="150000" cy="150000"/>
          </a:xfrm>
          <a:prstGeom prst="ellipse">
            <a:avLst/>
          </a:prstGeom>
          <a:solidFill>
            <a:srgbClr val="5D4037"/>
          </a:solidFill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6900000" y="2100000"/>
            <a:ext cx="1400000" cy="300000"/>
          </a:xfrm>
          <a:prstGeom prst="rect">
            <a:avLst/>
          </a:prstGeom>
          <a:solidFill>
            <a:srgbClr val="5D4037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2024-05</a:t>
            </a:r>
          </a:p>
        </p:txBody>
      </p:sp>
      <p:sp>
        <p:nvSpPr>
          <p:cNvPr id="26" name="Shape 26"/>
          <p:cNvSpPr/>
          <p:nvPr/>
        </p:nvSpPr>
        <p:spPr>
          <a:xfrm>
            <a:off x="6900000" y="2650000"/>
            <a:ext cx="1400000" cy="500000"/>
          </a:xfrm>
          <a:prstGeom prst="roundRect">
            <a:avLst/>
          </a:prstGeom>
          <a:solidFill>
            <a:srgbClr val="EFEBE9"/>
          </a:solidFill>
          <a:ln w="1">
            <a:solidFill>
              <a:srgbClr val="5D4037"/>
            </a:solidFill>
          </a:ln>
        </p:spPr>
        <p:txBody>
          <a:bodyPr wrap="square" rtlCol="0" anchor="ctr"/>
          <a:lstStyle/>
          <a:p>
            <a:pPr algn="ctr"/>
            <a:r>
              <a:rPr lang="en-US" sz="1800" dirty="0"/>
              <a:t>Speaker notes
Testing &amp; polish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Project Timeline View (continued)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Continuation Slides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When you use </a:t>
            </a:r>
            <a:r>
              <a:rPr lang="en-US" sz="2800" dirty="0">
                <a:latin typeface="Consolas"/>
                <a:solidFill>
                  <a:srgbClr val="C7254E"/>
                </a:solidFill>
              </a:rPr>
              <a:t>---</a:t>
            </a:r>
            <a:r>
              <a:rPr lang="en-US" sz="2800" b="0" i="0" dirty="0"/>
              <a:t> (horizontal rule), it creates a continuation slide. This is useful for breaking up long content.</a:t>
            </a:r>
          </a:p>
          <a:p>
            <a:pPr lvl="0"/>
            <a:r>
              <a:rPr lang="en-US" sz="2800" b="0" i="0" dirty="0"/>
              <a:t>This slide continues the previous topic</a:t>
            </a:r>
          </a:p>
          <a:p>
            <a:pPr lvl="0"/>
            <a:r>
              <a:rPr lang="en-US" sz="2800" b="0" i="0" dirty="0"/>
              <a:t>The title shows "(continued)"</a:t>
            </a:r>
          </a:p>
          <a:p>
            <a:pPr lvl="0"/>
            <a:r>
              <a:rPr lang="en-US" sz="2800" b="0" i="0" dirty="0"/>
              <a:t>Great for detailed explanations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Mixed Content Slide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8000000" cy="1200000"/>
        </p:xfrm>
        <a:graphic>
          <a:graphicData uri="http://schemas.openxmlformats.org/drawingml/2006/table">
            <a:tbl>
              <a:tblPr firstRow="1" bandHVals="1"/>
              <a:tblGrid>
                <a:gridCol w="4000000"/>
                <a:gridCol w="4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Technical Specifications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500000" y="1800000"/>
          <a:ext cx="7999998" cy="2400000"/>
        </p:xfrm>
        <a:graphic>
          <a:graphicData uri="http://schemas.openxmlformats.org/drawingml/2006/table">
            <a:tbl>
              <a:tblPr firstRow="1" bandHVals="1"/>
              <a:tblGrid>
                <a:gridCol w="2666666"/>
                <a:gridCol w="2666666"/>
                <a:gridCol w="2666666"/>
              </a:tblGrid>
              <a:tr h="400000"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1.75+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pulldown-cmark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0.10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</a:t>
                      </a:r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dirty="0"/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586E75"/>
                </a:solidFill>
              </a:rPr>
              <a:t>//</a:t>
            </a:r>
            <a:r>
              <a:rPr lang="en-US" sz="1400" dirty="0">
                <a:latin typeface="Consolas"/>
                <a:solidFill>
                  <a:srgbClr val="586E75"/>
                </a:solidFill>
              </a:rPr>
              <a:t> Example usage</a:t>
            </a:r>
          </a:p>
          <a:p>
            <a:pPr algn="l"/>
            <a:r>
              <a:rPr lang="en-US" sz="1400" dirty="0">
                <a:latin typeface="Consolas"/>
                <a:solidFill>
                  <a:srgbClr val="859900"/>
                </a:solidFill>
              </a:rPr>
              <a:t>use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ppt_rs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::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cli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::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parse_markdown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</a:p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slides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parse_markdown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content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?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  <a:p>
            <a:pPr algn="l"/>
            <a:r>
              <a:rPr lang="en-US" sz="1400" dirty="0">
                <a:latin typeface="Consolas"/>
                <a:solidFill>
                  <a:srgbClr val="268BD2"/>
                </a:solidFill>
              </a:rPr>
              <a:t>let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pptx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=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create_pptx_with_content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(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2AA198"/>
                </a:solidFill>
              </a:rPr>
              <a:t>Title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"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,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slides</a:t>
            </a:r>
            <a:r>
              <a:rPr lang="en-US" sz="1400" dirty="0">
                <a:latin typeface="Consolas"/>
                <a:solidFill>
                  <a:srgbClr val="657B83"/>
                </a:solidFill>
              </a:rPr>
              <a:t>)</a:t>
            </a:r>
            <a:r>
              <a:rPr lang="en-US" sz="1400" dirty="0">
                <a:latin typeface="Consolas"/>
                <a:solidFill>
                  <a:srgbClr val="859900"/>
                </a:solidFill>
              </a:rPr>
              <a:t>?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Summary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1" i="0" dirty="0"/>
              <a:t>What We Covered</a:t>
            </a:r>
          </a:p>
          <a:p>
            <a:pPr lvl="0"/>
            <a:r>
              <a:rPr lang="en-US" sz="2800" b="0" i="0" dirty="0"/>
              <a:t>Text formatting (bold, italic, code)</a:t>
            </a:r>
          </a:p>
          <a:p>
            <a:pPr lvl="0"/>
            <a:r>
              <a:rPr lang="en-US" sz="2800" b="0" i="0" dirty="0"/>
              <a:t>Bullet points and lists</a:t>
            </a:r>
          </a:p>
          <a:p>
            <a:pPr lvl="0"/>
            <a:r>
              <a:rPr lang="en-US" sz="2800" b="0" i="0" dirty="0"/>
              <a:t>Tables with automatic styling</a:t>
            </a:r>
          </a:p>
          <a:p>
            <a:pPr lvl="0"/>
            <a:r>
              <a:rPr lang="en-US" sz="2800" b="0" i="0" dirty="0"/>
              <a:t>Code blocks with syntax labels</a:t>
            </a:r>
          </a:p>
          <a:p>
            <a:pPr lvl="0"/>
            <a:r>
              <a:rPr lang="en-US" sz="2800" b="0" i="0" dirty="0"/>
              <a:t>12 types of Mermaid diagrams</a:t>
            </a:r>
          </a:p>
          <a:p>
            <a:pPr lvl="0"/>
            <a:r>
              <a:rPr lang="en-US" sz="2800" b="0" i="0" dirty="0"/>
              <a:t>Speaker notes from blockquotes</a:t>
            </a:r>
          </a:p>
          <a:p>
            <a:pPr lvl="0"/>
            <a:r>
              <a:rPr lang="en-US" sz="2800" b="0" i="0" dirty="0"/>
              <a:t>Slide breaks with horizontal rules</a:t>
            </a:r>
          </a:p>
          <a:p>
            <a:pPr lvl="0"/>
            <a:r>
              <a:rPr lang="en-US" sz="2800" b="1" i="0" dirty="0"/>
              <a:t>Key Benefits</a:t>
            </a:r>
          </a:p>
          <a:p>
            <a:pPr lvl="0"/>
            <a:r>
              <a:rPr lang="en-US" sz="2800" b="0" i="0" dirty="0"/>
              <a:t>Simple markdown syntax</a:t>
            </a:r>
          </a:p>
          <a:p>
            <a:pPr lvl="0"/>
            <a:r>
              <a:rPr lang="en-US" sz="2800" b="0" i="0" dirty="0"/>
              <a:t>Professional output</a:t>
            </a:r>
          </a:p>
          <a:p>
            <a:pPr lvl="0"/>
            <a:r>
              <a:rPr lang="en-US" sz="2800" b="0" i="0" dirty="0"/>
              <a:t>No PowerPoint required</a:t>
            </a:r>
          </a:p>
          <a:p>
            <a:pPr lvl="0"/>
            <a:r>
              <a:rPr lang="en-US" sz="2800" b="0" i="0" dirty="0"/>
              <a:t>Version control friendly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Thank You!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Questions?</a:t>
            </a:r>
          </a:p>
          <a:p>
            <a:pPr lvl="0"/>
            <a:r>
              <a:rPr lang="en-US" sz="2800" b="0" i="0" dirty="0"/>
              <a:t>GitHub: github.com/yingkitw/ppt-rs</a:t>
            </a:r>
          </a:p>
          <a:p>
            <a:pPr lvl="0"/>
            <a:r>
              <a:rPr lang="en-US" sz="2800" b="0" i="0" dirty="0"/>
              <a:t>Documentation: See README.md</a:t>
            </a:r>
          </a:p>
          <a:p>
            <a:pPr lvl="0"/>
            <a:r>
              <a:rPr lang="en-US" sz="2800" b="0" i="0" dirty="0"/>
              <a:t>Issues: Report bugs on GitHub</a:t>
            </a:r>
          </a:p>
          <a:p>
            <a:pPr lvl="0"/>
            <a:r>
              <a:rPr lang="en-US" sz="2800" b="1" i="0" dirty="0"/>
              <a:t>Try it yourself:</a:t>
            </a:r>
          </a:p>
        </p:txBody>
      </p:sp>
      <p:sp>
        <p:nvSpPr>
          <p:cNvPr id="30" name="Code Block"/>
          <p:cNvSpPr txBox="1"/>
          <p:nvPr/>
        </p:nvSpPr>
        <p:spPr>
          <a:xfrm>
            <a:off x="500000" y="1800000"/>
            <a:ext cx="8000000" cy="4000000"/>
          </a:xfrm>
          <a:prstGeom prst="rect">
            <a:avLst/>
          </a:prstGeom>
          <a:solidFill>
            <a:srgbClr val="002B36"/>
          </a:solidFill>
          <a:ln w="12700">
            <a:solidFill>
              <a:srgbClr val="073642"/>
            </a:solidFill>
          </a:ln>
        </p:spPr>
        <p:txBody>
          <a:bodyPr wrap="square" rtlCol="0" anchor="t" lIns="91440" tIns="45720" rIns="91440" bIns="45720"/>
          <a:lstStyle/>
          <a:p>
            <a:pPr algn="l"/>
            <a:r>
              <a:rPr lang="en-US" sz="1400" dirty="0">
                <a:latin typeface="Consolas"/>
                <a:solidFill>
                  <a:srgbClr val="B58900"/>
                </a:solidFill>
              </a:rPr>
              <a:t>pptcli</a:t>
            </a:r>
            <a:r>
              <a:rPr lang="en-US" sz="1400" dirty="0">
                <a:latin typeface="Consolas"/>
                <a:solidFill>
                  <a:srgbClr val="839496"/>
                </a:solidFill>
              </a:rPr>
              <a:t> md2ppt presentation.md output.pptx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25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from Markdown</dc:title>
  <dc:creator>pptx-rs</dc:creator>
  <cp:lastModifiedBy>pptx-rs</cp:lastModifiedBy>
  <cp:revision>1</cp:revision>
  <dcterms:created xsi:type="dcterms:W3CDTF">2025-12-06T15:16:01Z</dcterms:created>
  <dcterms:modified xsi:type="dcterms:W3CDTF">2025-12-06T15:16:01Z</dcterms:modified>
</cp:coreProperties>
</file>